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2.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svg" ContentType="image/svg"/>
  <Override PartName="/ppt/media/image25.png" ContentType="image/png"/>
  <Override PartName="/ppt/media/image18.png" ContentType="image/png"/>
  <Override PartName="/ppt/media/image20.svg" ContentType="image/svg"/>
  <Override PartName="/ppt/media/image19.png" ContentType="image/png"/>
  <Override PartName="/ppt/media/image21.png" ContentType="image/png"/>
  <Override PartName="/ppt/media/image22.png" ContentType="image/png"/>
  <Override PartName="/ppt/media/image23.svg" ContentType="image/svg"/>
  <Override PartName="/ppt/media/image31.png" ContentType="image/png"/>
  <Override PartName="/ppt/media/image24.png" ContentType="image/png"/>
  <Override PartName="/ppt/media/image26.svg" ContentType="image/svg"/>
  <Override PartName="/ppt/media/image27.png" ContentType="image/png"/>
  <Override PartName="/ppt/media/image28.png" ContentType="image/png"/>
  <Override PartName="/ppt/media/image29.svg" ContentType="image/svg"/>
  <Override PartName="/ppt/media/image30.png" ContentType="image/png"/>
  <Override PartName="/ppt/media/image32.svg" ContentType="image/svg"/>
  <Override PartName="/ppt/media/image33.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3F5DFF4-DB26-4D94-8DD6-E2188D4CAE2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5680" cy="3085560"/>
          </a:xfrm>
          <a:prstGeom prst="rect">
            <a:avLst/>
          </a:prstGeom>
          <a:ln w="0">
            <a:noFill/>
          </a:ln>
        </p:spPr>
      </p:sp>
      <p:sp>
        <p:nvSpPr>
          <p:cNvPr id="17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2"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FE0A241-04FB-4B29-B33B-849621EDA0A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5680" cy="3085560"/>
          </a:xfrm>
          <a:prstGeom prst="rect">
            <a:avLst/>
          </a:prstGeom>
          <a:ln w="0">
            <a:noFill/>
          </a:ln>
        </p:spPr>
      </p:sp>
      <p:sp>
        <p:nvSpPr>
          <p:cNvPr id="17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5"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98907CB-1AD2-41EA-AE7D-6ED0FF249F4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5680" cy="3085560"/>
          </a:xfrm>
          <a:prstGeom prst="rect">
            <a:avLst/>
          </a:prstGeom>
          <a:ln w="0">
            <a:noFill/>
          </a:ln>
        </p:spPr>
      </p:sp>
      <p:sp>
        <p:nvSpPr>
          <p:cNvPr id="17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8"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FD0FE5E-DCD8-4D4B-8833-7528F1AB212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5680" cy="3085560"/>
          </a:xfrm>
          <a:prstGeom prst="rect">
            <a:avLst/>
          </a:prstGeom>
          <a:ln w="0">
            <a:noFill/>
          </a:ln>
        </p:spPr>
      </p:sp>
      <p:sp>
        <p:nvSpPr>
          <p:cNvPr id="18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1"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7E04541-3DDF-4A2F-A790-E40858B4DB2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5680" cy="3085560"/>
          </a:xfrm>
          <a:prstGeom prst="rect">
            <a:avLst/>
          </a:prstGeom>
          <a:ln w="0">
            <a:noFill/>
          </a:ln>
        </p:spPr>
      </p:sp>
      <p:sp>
        <p:nvSpPr>
          <p:cNvPr id="1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4"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294867E-54A0-44D8-9F77-5BB653C83F2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5680" cy="3085560"/>
          </a:xfrm>
          <a:prstGeom prst="rect">
            <a:avLst/>
          </a:prstGeom>
          <a:ln w="0">
            <a:noFill/>
          </a:ln>
        </p:spPr>
      </p:sp>
      <p:sp>
        <p:nvSpPr>
          <p:cNvPr id="1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7"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21663AC-9C2B-44A5-A591-A2E3302FA9A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5680" cy="3085560"/>
          </a:xfrm>
          <a:prstGeom prst="rect">
            <a:avLst/>
          </a:prstGeom>
          <a:ln w="0">
            <a:noFill/>
          </a:ln>
        </p:spPr>
      </p:sp>
      <p:sp>
        <p:nvSpPr>
          <p:cNvPr id="1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0"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09F001E-98C5-48AE-A6A1-FA883837C30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5680" cy="3085560"/>
          </a:xfrm>
          <a:prstGeom prst="rect">
            <a:avLst/>
          </a:prstGeom>
          <a:ln w="0">
            <a:noFill/>
          </a:ln>
        </p:spPr>
      </p:sp>
      <p:sp>
        <p:nvSpPr>
          <p:cNvPr id="1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3"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C5965BF-247E-47B4-B42F-A7AE229266E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5680" cy="3085560"/>
          </a:xfrm>
          <a:prstGeom prst="rect">
            <a:avLst/>
          </a:prstGeom>
          <a:ln w="0">
            <a:noFill/>
          </a:ln>
        </p:spPr>
      </p:sp>
      <p:sp>
        <p:nvSpPr>
          <p:cNvPr id="1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6"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86C8C04-1330-4057-AD02-22D377CACBC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5680" cy="3085560"/>
          </a:xfrm>
          <a:prstGeom prst="rect">
            <a:avLst/>
          </a:prstGeom>
          <a:ln w="0">
            <a:noFill/>
          </a:ln>
        </p:spPr>
      </p:sp>
      <p:sp>
        <p:nvSpPr>
          <p:cNvPr id="1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9"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6B429CB-1CF8-401C-8641-782E49F6AC4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5680" cy="3085560"/>
          </a:xfrm>
          <a:prstGeom prst="rect">
            <a:avLst/>
          </a:prstGeom>
          <a:ln w="0">
            <a:noFill/>
          </a:ln>
        </p:spPr>
      </p:sp>
      <p:sp>
        <p:nvSpPr>
          <p:cNvPr id="2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2"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4E31AF9-D1FB-436E-9F25-4EAE8ED063C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9"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1"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Shape 0"/>
          <p:cNvSpPr/>
          <p:nvPr/>
        </p:nvSpPr>
        <p:spPr>
          <a:xfrm>
            <a:off x="0" y="0"/>
            <a:ext cx="14629680" cy="8228880"/>
          </a:xfrm>
          <a:prstGeom prst="rect">
            <a:avLst/>
          </a:prstGeom>
          <a:solidFill>
            <a:srgbClr val="ececf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Shape 1"/>
          <p:cNvSpPr/>
          <p:nvPr/>
        </p:nvSpPr>
        <p:spPr>
          <a:xfrm>
            <a:off x="0" y="0"/>
            <a:ext cx="14629680" cy="8228880"/>
          </a:xfrm>
          <a:prstGeom prst="rect">
            <a:avLst/>
          </a:prstGeom>
          <a:solidFill>
            <a:srgbClr val="ffffff">
              <a:alpha val="9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8.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0.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2.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7.png"/><Relationship Id="rId14" Type="http://schemas.openxmlformats.org/officeDocument/2006/relationships/image" Target="../media/image28.png"/><Relationship Id="rId15" Type="http://schemas.openxmlformats.org/officeDocument/2006/relationships/image" Target="../media/image29.svg"/><Relationship Id="rId16" Type="http://schemas.openxmlformats.org/officeDocument/2006/relationships/image" Target="../media/image30.png"/><Relationship Id="rId17" Type="http://schemas.openxmlformats.org/officeDocument/2006/relationships/image" Target="../media/image31.png"/><Relationship Id="rId18" Type="http://schemas.openxmlformats.org/officeDocument/2006/relationships/image" Target="../media/image32.svg"/><Relationship Id="rId19" Type="http://schemas.openxmlformats.org/officeDocument/2006/relationships/slideLayout" Target="../slideLayouts/slideLayout2.xml"/><Relationship Id="rId20"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 Id="rId4"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Image 0" descr="preencoded.png"/>
          <p:cNvPicPr/>
          <p:nvPr/>
        </p:nvPicPr>
        <p:blipFill>
          <a:blip r:embed="rId1"/>
          <a:stretch/>
        </p:blipFill>
        <p:spPr>
          <a:xfrm>
            <a:off x="0" y="0"/>
            <a:ext cx="5485680" cy="8228880"/>
          </a:xfrm>
          <a:prstGeom prst="rect">
            <a:avLst/>
          </a:prstGeom>
          <a:ln w="0">
            <a:noFill/>
          </a:ln>
        </p:spPr>
      </p:pic>
      <p:pic>
        <p:nvPicPr>
          <p:cNvPr id="55" name="Image 1" descr="preencoded.png"/>
          <p:cNvPicPr/>
          <p:nvPr/>
        </p:nvPicPr>
        <p:blipFill>
          <a:blip r:embed="rId2"/>
          <a:stretch/>
        </p:blipFill>
        <p:spPr>
          <a:xfrm>
            <a:off x="283320" y="1654920"/>
            <a:ext cx="4918680" cy="4918680"/>
          </a:xfrm>
          <a:prstGeom prst="rect">
            <a:avLst/>
          </a:prstGeom>
          <a:ln w="0">
            <a:noFill/>
          </a:ln>
        </p:spPr>
      </p:pic>
      <p:sp>
        <p:nvSpPr>
          <p:cNvPr id="56" name="Text 0"/>
          <p:cNvSpPr/>
          <p:nvPr/>
        </p:nvSpPr>
        <p:spPr>
          <a:xfrm>
            <a:off x="6280200" y="1418760"/>
            <a:ext cx="7555680" cy="2834280"/>
          </a:xfrm>
          <a:prstGeom prst="rect">
            <a:avLst/>
          </a:prstGeom>
          <a:noFill/>
          <a:ln w="0">
            <a:noFill/>
          </a:ln>
        </p:spPr>
        <p:style>
          <a:lnRef idx="0"/>
          <a:fillRef idx="0"/>
          <a:effectRef idx="0"/>
          <a:fontRef idx="minor"/>
        </p:style>
        <p:txBody>
          <a:bodyPr lIns="0" rIns="0" tIns="0" bIns="0" anchor="t">
            <a:noAutofit/>
          </a:bodyPr>
          <a:p>
            <a:pPr>
              <a:lnSpc>
                <a:spcPts val="5550"/>
              </a:lnSpc>
              <a:tabLst>
                <a:tab algn="l" pos="0"/>
              </a:tabLst>
            </a:pPr>
            <a:r>
              <a:rPr b="0" lang="en-US" sz="4450" spc="-1" strike="noStrike">
                <a:solidFill>
                  <a:srgbClr val="1b1b27"/>
                </a:solidFill>
                <a:latin typeface="Raleway"/>
                <a:ea typeface="Raleway"/>
              </a:rPr>
              <a:t>Analyzing Character Interactions and Influence in the Game of Thrones Network</a:t>
            </a:r>
            <a:endParaRPr b="0" lang="en-US" sz="4450" spc="-1" strike="noStrike">
              <a:solidFill>
                <a:srgbClr val="000000"/>
              </a:solidFill>
              <a:latin typeface="Arial"/>
            </a:endParaRPr>
          </a:p>
        </p:txBody>
      </p:sp>
      <p:sp>
        <p:nvSpPr>
          <p:cNvPr id="57" name="Text 1"/>
          <p:cNvSpPr/>
          <p:nvPr/>
        </p:nvSpPr>
        <p:spPr>
          <a:xfrm>
            <a:off x="6280200" y="459396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
        <p:nvSpPr>
          <p:cNvPr id="58" name="Text 2"/>
          <p:cNvSpPr/>
          <p:nvPr/>
        </p:nvSpPr>
        <p:spPr>
          <a:xfrm>
            <a:off x="6280200" y="521208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0" lang="en-US" sz="1750" spc="-1" strike="noStrike">
                <a:solidFill>
                  <a:srgbClr val="3c3939"/>
                </a:solidFill>
                <a:latin typeface="Roboto"/>
                <a:ea typeface="Roboto"/>
              </a:rPr>
              <a:t>Αριστοτέλης Μουλάς</a:t>
            </a:r>
            <a:endParaRPr b="0" lang="en-US" sz="1750" spc="-1" strike="noStrike">
              <a:solidFill>
                <a:srgbClr val="000000"/>
              </a:solidFill>
              <a:latin typeface="Arial"/>
            </a:endParaRPr>
          </a:p>
        </p:txBody>
      </p:sp>
      <p:sp>
        <p:nvSpPr>
          <p:cNvPr id="59" name="Text 3"/>
          <p:cNvSpPr/>
          <p:nvPr/>
        </p:nvSpPr>
        <p:spPr>
          <a:xfrm>
            <a:off x="6280200" y="582984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
        <p:nvSpPr>
          <p:cNvPr id="60" name="Text 4"/>
          <p:cNvSpPr/>
          <p:nvPr/>
        </p:nvSpPr>
        <p:spPr>
          <a:xfrm>
            <a:off x="6280200" y="644796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 0"/>
          <p:cNvSpPr/>
          <p:nvPr/>
        </p:nvSpPr>
        <p:spPr>
          <a:xfrm>
            <a:off x="793800" y="963720"/>
            <a:ext cx="11358360" cy="566280"/>
          </a:xfrm>
          <a:prstGeom prst="rect">
            <a:avLst/>
          </a:prstGeom>
          <a:noFill/>
          <a:ln w="0">
            <a:noFill/>
          </a:ln>
        </p:spPr>
        <p:style>
          <a:lnRef idx="0"/>
          <a:fillRef idx="0"/>
          <a:effectRef idx="0"/>
          <a:fontRef idx="minor"/>
        </p:style>
        <p:txBody>
          <a:bodyPr wrap="none" lIns="0" rIns="0" tIns="0" bIns="0" anchor="t">
            <a:noAutofit/>
          </a:bodyPr>
          <a:p>
            <a:pPr>
              <a:lnSpc>
                <a:spcPts val="4450"/>
              </a:lnSpc>
              <a:tabLst>
                <a:tab algn="l" pos="0"/>
              </a:tabLst>
            </a:pPr>
            <a:r>
              <a:rPr b="0" lang="en-US" sz="3550" spc="-1" strike="noStrike">
                <a:solidFill>
                  <a:srgbClr val="1b1b27"/>
                </a:solidFill>
                <a:latin typeface="Raleway"/>
                <a:ea typeface="Raleway"/>
              </a:rPr>
              <a:t>Προσδιορισμός Προβλήματος &amp; Ερευνητικό Ερώτημα</a:t>
            </a:r>
            <a:endParaRPr b="0" lang="en-US" sz="3550" spc="-1" strike="noStrike">
              <a:solidFill>
                <a:srgbClr val="000000"/>
              </a:solidFill>
              <a:latin typeface="Arial"/>
            </a:endParaRPr>
          </a:p>
        </p:txBody>
      </p:sp>
      <p:sp>
        <p:nvSpPr>
          <p:cNvPr id="62" name="Text 1"/>
          <p:cNvSpPr/>
          <p:nvPr/>
        </p:nvSpPr>
        <p:spPr>
          <a:xfrm>
            <a:off x="793800" y="2074680"/>
            <a:ext cx="7603560" cy="72504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1" lang="en-US" sz="1750" spc="-1" strike="noStrike">
                <a:solidFill>
                  <a:srgbClr val="1b1b27"/>
                </a:solidFill>
                <a:latin typeface="Roboto"/>
                <a:ea typeface="Roboto"/>
              </a:rPr>
              <a:t>Το Πρόβλημα:</a:t>
            </a:r>
            <a:r>
              <a:rPr b="0" lang="en-US" sz="1750" spc="-1" strike="noStrike">
                <a:solidFill>
                  <a:srgbClr val="3c3939"/>
                </a:solidFill>
                <a:latin typeface="Roboto"/>
                <a:ea typeface="Roboto"/>
              </a:rPr>
              <a:t> Υπάρχει ένας κεντρικός πρωταγωνιστής στο σύμπαν της σειράς του Game of Thrones;</a:t>
            </a:r>
            <a:endParaRPr b="0" lang="en-US" sz="1750" spc="-1" strike="noStrike">
              <a:solidFill>
                <a:srgbClr val="000000"/>
              </a:solidFill>
              <a:latin typeface="Arial"/>
            </a:endParaRPr>
          </a:p>
        </p:txBody>
      </p:sp>
      <p:sp>
        <p:nvSpPr>
          <p:cNvPr id="63" name="Text 2"/>
          <p:cNvSpPr/>
          <p:nvPr/>
        </p:nvSpPr>
        <p:spPr>
          <a:xfrm>
            <a:off x="793800" y="3004560"/>
            <a:ext cx="7603560" cy="108792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1" lang="en-US" sz="1750" spc="-1" strike="noStrike">
                <a:solidFill>
                  <a:srgbClr val="1b1b27"/>
                </a:solidFill>
                <a:latin typeface="Roboto"/>
                <a:ea typeface="Roboto"/>
              </a:rPr>
              <a:t>Ερευνητικό Ερώτημα:</a:t>
            </a:r>
            <a:r>
              <a:rPr b="0" lang="en-US" sz="1750" spc="-1" strike="noStrike">
                <a:solidFill>
                  <a:srgbClr val="3c3939"/>
                </a:solidFill>
                <a:latin typeface="Roboto"/>
                <a:ea typeface="Roboto"/>
              </a:rPr>
              <a:t> Πώς μπορούμε να αξιοποιήσουμε τις μετρικές της ανάλυσης δικτύου για να εντοπίσουμε και να αναδείξουμε τον/τους κυρίαρχους χαρακτήρες της σειράς;</a:t>
            </a:r>
            <a:endParaRPr b="0" lang="en-US" sz="1750" spc="-1" strike="noStrike">
              <a:solidFill>
                <a:srgbClr val="000000"/>
              </a:solidFill>
              <a:latin typeface="Arial"/>
            </a:endParaRPr>
          </a:p>
        </p:txBody>
      </p:sp>
      <p:sp>
        <p:nvSpPr>
          <p:cNvPr id="64" name="Text 3"/>
          <p:cNvSpPr/>
          <p:nvPr/>
        </p:nvSpPr>
        <p:spPr>
          <a:xfrm>
            <a:off x="1134000" y="4348440"/>
            <a:ext cx="7263360" cy="181368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1" lang="en-US" sz="1750" spc="-1" strike="noStrike">
                <a:solidFill>
                  <a:srgbClr val="3c3939"/>
                </a:solidFill>
                <a:latin typeface="Roboto"/>
                <a:ea typeface="Roboto"/>
              </a:rPr>
              <a:t>Υπόθεση:</a:t>
            </a:r>
            <a:r>
              <a:rPr b="0" lang="en-US" sz="1750" spc="-1" strike="noStrike">
                <a:solidFill>
                  <a:srgbClr val="3c3939"/>
                </a:solidFill>
                <a:latin typeface="Roboto"/>
                <a:ea typeface="Roboto"/>
              </a:rPr>
              <a:t> Αναμένουμε να ανακαλύψουμε αρκετούς κεντρικούς χαρακτήρες που θα παρουσιάζουν υψηλές τιμές σε μετρικές όπως το degree, το strength και το betweenness, υποδεικνύοντας την καθοριστική τους θέση στο δίκτυο, όπως τους Jon Snow, ο Tyrion Lannister και η Daenerys Targaryen</a:t>
            </a:r>
            <a:endParaRPr b="0" lang="en-US" sz="1750" spc="-1" strike="noStrike">
              <a:solidFill>
                <a:srgbClr val="000000"/>
              </a:solidFill>
              <a:latin typeface="Arial"/>
            </a:endParaRPr>
          </a:p>
        </p:txBody>
      </p:sp>
      <p:sp>
        <p:nvSpPr>
          <p:cNvPr id="65" name="Shape 4"/>
          <p:cNvSpPr/>
          <p:nvPr/>
        </p:nvSpPr>
        <p:spPr>
          <a:xfrm>
            <a:off x="793800" y="4348440"/>
            <a:ext cx="29880" cy="1813680"/>
          </a:xfrm>
          <a:prstGeom prst="rect">
            <a:avLst/>
          </a:prstGeom>
          <a:solidFill>
            <a:srgbClr val="1b1b2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66" name="Image 0" descr="preencoded.png"/>
          <p:cNvPicPr/>
          <p:nvPr/>
        </p:nvPicPr>
        <p:blipFill>
          <a:blip r:embed="rId1"/>
          <a:stretch/>
        </p:blipFill>
        <p:spPr>
          <a:xfrm>
            <a:off x="8958960" y="2125800"/>
            <a:ext cx="4884120" cy="48841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Image 0" descr="preencoded.png"/>
          <p:cNvPicPr/>
          <p:nvPr/>
        </p:nvPicPr>
        <p:blipFill>
          <a:blip r:embed="rId1"/>
          <a:stretch/>
        </p:blipFill>
        <p:spPr>
          <a:xfrm>
            <a:off x="9144000" y="0"/>
            <a:ext cx="5485680" cy="8228880"/>
          </a:xfrm>
          <a:prstGeom prst="rect">
            <a:avLst/>
          </a:prstGeom>
          <a:ln w="0">
            <a:noFill/>
          </a:ln>
        </p:spPr>
      </p:pic>
      <p:sp>
        <p:nvSpPr>
          <p:cNvPr id="68" name="Text 0"/>
          <p:cNvSpPr/>
          <p:nvPr/>
        </p:nvSpPr>
        <p:spPr>
          <a:xfrm>
            <a:off x="739080" y="762120"/>
            <a:ext cx="6972480" cy="527040"/>
          </a:xfrm>
          <a:prstGeom prst="rect">
            <a:avLst/>
          </a:prstGeom>
          <a:noFill/>
          <a:ln w="0">
            <a:noFill/>
          </a:ln>
        </p:spPr>
        <p:style>
          <a:lnRef idx="0"/>
          <a:fillRef idx="0"/>
          <a:effectRef idx="0"/>
          <a:fontRef idx="minor"/>
        </p:style>
        <p:txBody>
          <a:bodyPr wrap="none" lIns="0" rIns="0" tIns="0" bIns="0" anchor="t">
            <a:noAutofit/>
          </a:bodyPr>
          <a:p>
            <a:pPr>
              <a:lnSpc>
                <a:spcPts val="4150"/>
              </a:lnSpc>
              <a:tabLst>
                <a:tab algn="l" pos="0"/>
              </a:tabLst>
            </a:pPr>
            <a:r>
              <a:rPr b="0" lang="en-US" sz="3300" spc="-1" strike="noStrike">
                <a:solidFill>
                  <a:srgbClr val="1b1b27"/>
                </a:solidFill>
                <a:latin typeface="Raleway"/>
                <a:ea typeface="Raleway"/>
              </a:rPr>
              <a:t>Σύνολο Δεδομένων &amp; Μεθοδολογία</a:t>
            </a:r>
            <a:endParaRPr b="0" lang="en-US" sz="3300" spc="-1" strike="noStrike">
              <a:solidFill>
                <a:srgbClr val="000000"/>
              </a:solidFill>
              <a:latin typeface="Arial"/>
            </a:endParaRPr>
          </a:p>
        </p:txBody>
      </p:sp>
      <p:sp>
        <p:nvSpPr>
          <p:cNvPr id="69" name="Shape 1"/>
          <p:cNvSpPr/>
          <p:nvPr/>
        </p:nvSpPr>
        <p:spPr>
          <a:xfrm>
            <a:off x="739080" y="1606680"/>
            <a:ext cx="7665120" cy="1937520"/>
          </a:xfrm>
          <a:prstGeom prst="roundRect">
            <a:avLst>
              <a:gd name="adj" fmla="val 5661"/>
            </a:avLst>
          </a:prstGeom>
          <a:solidFill>
            <a:srgbClr val="ffffff">
              <a:alpha val="95000"/>
            </a:srgbClr>
          </a:solidFill>
          <a:ln w="22860">
            <a:solidFill>
              <a:srgbClr val="c7c7d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 name="Shape 2"/>
          <p:cNvSpPr/>
          <p:nvPr/>
        </p:nvSpPr>
        <p:spPr>
          <a:xfrm>
            <a:off x="716400" y="1606680"/>
            <a:ext cx="90720" cy="1937520"/>
          </a:xfrm>
          <a:prstGeom prst="roundRect">
            <a:avLst>
              <a:gd name="adj" fmla="val 97001"/>
            </a:avLst>
          </a:prstGeom>
          <a:solidFill>
            <a:srgbClr val="1b1b2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 name="Text 3"/>
          <p:cNvSpPr/>
          <p:nvPr/>
        </p:nvSpPr>
        <p:spPr>
          <a:xfrm>
            <a:off x="1041840" y="1840320"/>
            <a:ext cx="2639160" cy="3290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3c3939"/>
                </a:solidFill>
                <a:latin typeface="Raleway"/>
                <a:ea typeface="Raleway"/>
              </a:rPr>
              <a:t>Σύνολο Δεδομένων</a:t>
            </a:r>
            <a:endParaRPr b="0" lang="en-US" sz="2050" spc="-1" strike="noStrike">
              <a:solidFill>
                <a:srgbClr val="000000"/>
              </a:solidFill>
              <a:latin typeface="Arial"/>
            </a:endParaRPr>
          </a:p>
        </p:txBody>
      </p:sp>
      <p:sp>
        <p:nvSpPr>
          <p:cNvPr id="72" name="Text 4"/>
          <p:cNvSpPr/>
          <p:nvPr/>
        </p:nvSpPr>
        <p:spPr>
          <a:xfrm>
            <a:off x="1041840" y="2297160"/>
            <a:ext cx="7128360" cy="101304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pc="-1" strike="noStrike">
                <a:solidFill>
                  <a:srgbClr val="3c3939"/>
                </a:solidFill>
                <a:latin typeface="Roboto"/>
                <a:ea typeface="Roboto"/>
              </a:rPr>
              <a:t>Χρησιμοποιήθηκαν δεδομένα από το GitHub, συγκεκριμένα το "gameofthrones dataset", το οποίο περιλαμβάνει τις αλληλεπιδράσεις μεταξύ των χαρακτήρων.</a:t>
            </a:r>
            <a:endParaRPr b="0" lang="en-US" sz="1650" spc="-1" strike="noStrike">
              <a:solidFill>
                <a:srgbClr val="000000"/>
              </a:solidFill>
              <a:latin typeface="Arial"/>
            </a:endParaRPr>
          </a:p>
        </p:txBody>
      </p:sp>
      <p:sp>
        <p:nvSpPr>
          <p:cNvPr id="73" name="Shape 5"/>
          <p:cNvSpPr/>
          <p:nvPr/>
        </p:nvSpPr>
        <p:spPr>
          <a:xfrm>
            <a:off x="739080" y="3755880"/>
            <a:ext cx="7665120" cy="4016520"/>
          </a:xfrm>
          <a:prstGeom prst="roundRect">
            <a:avLst>
              <a:gd name="adj" fmla="val 2956"/>
            </a:avLst>
          </a:prstGeom>
          <a:solidFill>
            <a:srgbClr val="ffffff">
              <a:alpha val="95000"/>
            </a:srgbClr>
          </a:solidFill>
          <a:ln w="22860">
            <a:solidFill>
              <a:srgbClr val="c7c7d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4" name="Shape 6"/>
          <p:cNvSpPr/>
          <p:nvPr/>
        </p:nvSpPr>
        <p:spPr>
          <a:xfrm>
            <a:off x="716400" y="3755880"/>
            <a:ext cx="90720" cy="4016520"/>
          </a:xfrm>
          <a:prstGeom prst="roundRect">
            <a:avLst>
              <a:gd name="adj" fmla="val 97001"/>
            </a:avLst>
          </a:prstGeom>
          <a:solidFill>
            <a:srgbClr val="1b1b2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Text 7"/>
          <p:cNvSpPr/>
          <p:nvPr/>
        </p:nvSpPr>
        <p:spPr>
          <a:xfrm>
            <a:off x="1041840" y="3989880"/>
            <a:ext cx="2970360" cy="3290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2050" spc="-1" strike="noStrike">
                <a:solidFill>
                  <a:srgbClr val="3c3939"/>
                </a:solidFill>
                <a:latin typeface="Raleway"/>
                <a:ea typeface="Raleway"/>
              </a:rPr>
              <a:t>Μεθοδολογία Ανάλυσης</a:t>
            </a:r>
            <a:endParaRPr b="0" lang="en-US" sz="2050" spc="-1" strike="noStrike">
              <a:solidFill>
                <a:srgbClr val="000000"/>
              </a:solidFill>
              <a:latin typeface="Arial"/>
            </a:endParaRPr>
          </a:p>
        </p:txBody>
      </p:sp>
      <p:sp>
        <p:nvSpPr>
          <p:cNvPr id="76" name="Text 8"/>
          <p:cNvSpPr/>
          <p:nvPr/>
        </p:nvSpPr>
        <p:spPr>
          <a:xfrm>
            <a:off x="1041840" y="4446360"/>
            <a:ext cx="7128360" cy="67500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pc="-1" strike="noStrike">
                <a:solidFill>
                  <a:srgbClr val="3c3939"/>
                </a:solidFill>
                <a:latin typeface="Roboto"/>
                <a:ea typeface="Roboto"/>
              </a:rPr>
              <a:t>Nodes → Χαρακτήρες και Edges →  interactions τους.</a:t>
            </a:r>
            <a:endParaRPr b="0" lang="en-US" sz="1650" spc="-1" strike="noStrike">
              <a:solidFill>
                <a:srgbClr val="000000"/>
              </a:solidFill>
              <a:latin typeface="Arial"/>
            </a:endParaRPr>
          </a:p>
          <a:p>
            <a:pPr>
              <a:lnSpc>
                <a:spcPts val="2650"/>
              </a:lnSpc>
              <a:tabLst>
                <a:tab algn="l" pos="0"/>
              </a:tabLst>
            </a:pPr>
            <a:r>
              <a:rPr b="0" lang="en-US" sz="1650" spc="-1" strike="noStrike">
                <a:solidFill>
                  <a:srgbClr val="3c3939"/>
                </a:solidFill>
                <a:latin typeface="Roboto"/>
                <a:ea typeface="Roboto"/>
              </a:rPr>
              <a:t>Weight → Πόσα interactions είχαν(ποσοτικά).</a:t>
            </a:r>
            <a:endParaRPr b="0" lang="en-US" sz="1650" spc="-1" strike="noStrike">
              <a:solidFill>
                <a:srgbClr val="000000"/>
              </a:solidFill>
              <a:latin typeface="Arial"/>
            </a:endParaRPr>
          </a:p>
          <a:p>
            <a:pPr>
              <a:lnSpc>
                <a:spcPts val="2650"/>
              </a:lnSpc>
              <a:tabLst>
                <a:tab algn="l" pos="0"/>
              </a:tabLst>
            </a:pPr>
            <a:r>
              <a:rPr b="0" lang="en-US" sz="1650" spc="-1" strike="noStrike">
                <a:solidFill>
                  <a:srgbClr val="3c3939"/>
                </a:solidFill>
                <a:latin typeface="Roboto"/>
                <a:ea typeface="Roboto"/>
              </a:rPr>
              <a:t>Metrics που χρησιμοποιήθηκαν:</a:t>
            </a:r>
            <a:endParaRPr b="0" lang="en-US" sz="1650" spc="-1" strike="noStrike">
              <a:solidFill>
                <a:srgbClr val="000000"/>
              </a:solidFill>
              <a:latin typeface="Arial"/>
            </a:endParaRPr>
          </a:p>
          <a:p>
            <a:pPr>
              <a:lnSpc>
                <a:spcPts val="2650"/>
              </a:lnSpc>
              <a:tabLst>
                <a:tab algn="l" pos="0"/>
              </a:tabLst>
            </a:pPr>
            <a:endParaRPr b="0" lang="en-US" sz="1650" spc="-1" strike="noStrike">
              <a:solidFill>
                <a:srgbClr val="000000"/>
              </a:solidFill>
              <a:latin typeface="Arial"/>
            </a:endParaRPr>
          </a:p>
          <a:p>
            <a:pPr>
              <a:lnSpc>
                <a:spcPts val="2650"/>
              </a:lnSpc>
              <a:tabLst>
                <a:tab algn="l" pos="0"/>
              </a:tabLst>
            </a:pPr>
            <a:endParaRPr b="0" lang="en-US" sz="1650" spc="-1" strike="noStrike">
              <a:solidFill>
                <a:srgbClr val="000000"/>
              </a:solidFill>
              <a:latin typeface="Arial"/>
            </a:endParaRPr>
          </a:p>
        </p:txBody>
      </p:sp>
      <p:sp>
        <p:nvSpPr>
          <p:cNvPr id="77" name="Text 9"/>
          <p:cNvSpPr/>
          <p:nvPr/>
        </p:nvSpPr>
        <p:spPr>
          <a:xfrm>
            <a:off x="1041840" y="5248800"/>
            <a:ext cx="7128360" cy="337320"/>
          </a:xfrm>
          <a:prstGeom prst="rect">
            <a:avLst/>
          </a:prstGeom>
          <a:noFill/>
          <a:ln w="0">
            <a:noFill/>
          </a:ln>
        </p:spPr>
        <p:style>
          <a:lnRef idx="0"/>
          <a:fillRef idx="0"/>
          <a:effectRef idx="0"/>
          <a:fontRef idx="minor"/>
        </p:style>
        <p:txBody>
          <a:bodyPr wrap="none" lIns="0" rIns="0" tIns="0" bIns="0" anchor="t">
            <a:noAutofit/>
          </a:bodyPr>
          <a:p>
            <a:pPr marL="343080" indent="-343080">
              <a:lnSpc>
                <a:spcPts val="2650"/>
              </a:lnSpc>
              <a:buClr>
                <a:srgbClr val="3c3939"/>
              </a:buClr>
              <a:buFont typeface="Symbol" charset="2"/>
              <a:buChar char=""/>
            </a:pPr>
            <a:endParaRPr b="0" lang="en-US" sz="1650" spc="-1" strike="noStrike">
              <a:solidFill>
                <a:srgbClr val="000000"/>
              </a:solidFill>
              <a:latin typeface="Arial"/>
            </a:endParaRPr>
          </a:p>
          <a:p>
            <a:pPr marL="343080" indent="-343080">
              <a:lnSpc>
                <a:spcPts val="2650"/>
              </a:lnSpc>
              <a:buClr>
                <a:srgbClr val="3c3939"/>
              </a:buClr>
              <a:buFont typeface="Symbol" charset="2"/>
              <a:buChar char=""/>
            </a:pPr>
            <a:r>
              <a:rPr b="0" lang="en-US" sz="1650" spc="-1" strike="noStrike">
                <a:solidFill>
                  <a:srgbClr val="3c3939"/>
                </a:solidFill>
                <a:latin typeface="Roboto"/>
                <a:ea typeface="Roboto"/>
              </a:rPr>
              <a:t>Degree</a:t>
            </a:r>
            <a:endParaRPr b="0" lang="en-US" sz="1650" spc="-1" strike="noStrike">
              <a:solidFill>
                <a:srgbClr val="000000"/>
              </a:solidFill>
              <a:latin typeface="Arial"/>
            </a:endParaRPr>
          </a:p>
        </p:txBody>
      </p:sp>
      <p:sp>
        <p:nvSpPr>
          <p:cNvPr id="78" name="Text 10"/>
          <p:cNvSpPr/>
          <p:nvPr/>
        </p:nvSpPr>
        <p:spPr>
          <a:xfrm>
            <a:off x="1041840" y="5660640"/>
            <a:ext cx="7128360" cy="337320"/>
          </a:xfrm>
          <a:prstGeom prst="rect">
            <a:avLst/>
          </a:prstGeom>
          <a:noFill/>
          <a:ln w="0">
            <a:noFill/>
          </a:ln>
        </p:spPr>
        <p:style>
          <a:lnRef idx="0"/>
          <a:fillRef idx="0"/>
          <a:effectRef idx="0"/>
          <a:fontRef idx="minor"/>
        </p:style>
        <p:txBody>
          <a:bodyPr wrap="none" lIns="0" rIns="0" tIns="0" bIns="0" anchor="t">
            <a:noAutofit/>
          </a:bodyPr>
          <a:p>
            <a:pPr marL="343080" indent="-343080">
              <a:lnSpc>
                <a:spcPts val="2650"/>
              </a:lnSpc>
              <a:buClr>
                <a:srgbClr val="3c3939"/>
              </a:buClr>
              <a:buFont typeface="Symbol" charset="2"/>
              <a:buChar char=""/>
            </a:pPr>
            <a:endParaRPr b="0" lang="en-US" sz="1650" spc="-1" strike="noStrike">
              <a:solidFill>
                <a:srgbClr val="000000"/>
              </a:solidFill>
              <a:latin typeface="Arial"/>
            </a:endParaRPr>
          </a:p>
          <a:p>
            <a:pPr marL="343080" indent="-343080">
              <a:lnSpc>
                <a:spcPts val="2650"/>
              </a:lnSpc>
              <a:buClr>
                <a:srgbClr val="3c3939"/>
              </a:buClr>
              <a:buFont typeface="Symbol" charset="2"/>
              <a:buChar char=""/>
            </a:pPr>
            <a:r>
              <a:rPr b="0" lang="en-US" sz="1650" spc="-1" strike="noStrike">
                <a:solidFill>
                  <a:srgbClr val="3c3939"/>
                </a:solidFill>
                <a:latin typeface="Roboto"/>
                <a:ea typeface="Roboto"/>
              </a:rPr>
              <a:t>Strength</a:t>
            </a:r>
            <a:endParaRPr b="0" lang="en-US" sz="1650" spc="-1" strike="noStrike">
              <a:solidFill>
                <a:srgbClr val="000000"/>
              </a:solidFill>
              <a:latin typeface="Arial"/>
            </a:endParaRPr>
          </a:p>
        </p:txBody>
      </p:sp>
      <p:sp>
        <p:nvSpPr>
          <p:cNvPr id="79" name="Text 11"/>
          <p:cNvSpPr/>
          <p:nvPr/>
        </p:nvSpPr>
        <p:spPr>
          <a:xfrm>
            <a:off x="1041840" y="6072480"/>
            <a:ext cx="7128360" cy="337320"/>
          </a:xfrm>
          <a:prstGeom prst="rect">
            <a:avLst/>
          </a:prstGeom>
          <a:noFill/>
          <a:ln w="0">
            <a:noFill/>
          </a:ln>
        </p:spPr>
        <p:style>
          <a:lnRef idx="0"/>
          <a:fillRef idx="0"/>
          <a:effectRef idx="0"/>
          <a:fontRef idx="minor"/>
        </p:style>
        <p:txBody>
          <a:bodyPr wrap="none" lIns="0" rIns="0" tIns="0" bIns="0" anchor="t">
            <a:noAutofit/>
          </a:bodyPr>
          <a:p>
            <a:pPr marL="343080" indent="-343080">
              <a:lnSpc>
                <a:spcPts val="2650"/>
              </a:lnSpc>
              <a:buClr>
                <a:srgbClr val="3c3939"/>
              </a:buClr>
              <a:buFont typeface="Symbol" charset="2"/>
              <a:buChar char=""/>
            </a:pPr>
            <a:endParaRPr b="0" lang="en-US" sz="1650" spc="-1" strike="noStrike">
              <a:solidFill>
                <a:srgbClr val="000000"/>
              </a:solidFill>
              <a:latin typeface="Arial"/>
            </a:endParaRPr>
          </a:p>
          <a:p>
            <a:pPr marL="343080" indent="-343080">
              <a:lnSpc>
                <a:spcPts val="2650"/>
              </a:lnSpc>
              <a:buClr>
                <a:srgbClr val="3c3939"/>
              </a:buClr>
              <a:buFont typeface="Symbol" charset="2"/>
              <a:buChar char=""/>
            </a:pPr>
            <a:r>
              <a:rPr b="0" lang="en-US" sz="1650" spc="-1" strike="noStrike">
                <a:solidFill>
                  <a:srgbClr val="3c3939"/>
                </a:solidFill>
                <a:latin typeface="Roboto"/>
                <a:ea typeface="Roboto"/>
              </a:rPr>
              <a:t>Betweenness Centrality</a:t>
            </a:r>
            <a:endParaRPr b="0" lang="en-US" sz="1650" spc="-1" strike="noStrike">
              <a:solidFill>
                <a:srgbClr val="000000"/>
              </a:solidFill>
              <a:latin typeface="Arial"/>
            </a:endParaRPr>
          </a:p>
        </p:txBody>
      </p:sp>
      <p:sp>
        <p:nvSpPr>
          <p:cNvPr id="80" name="Text 12"/>
          <p:cNvSpPr/>
          <p:nvPr/>
        </p:nvSpPr>
        <p:spPr>
          <a:xfrm>
            <a:off x="1041840" y="6483960"/>
            <a:ext cx="7128360" cy="337320"/>
          </a:xfrm>
          <a:prstGeom prst="rect">
            <a:avLst/>
          </a:prstGeom>
          <a:noFill/>
          <a:ln w="0">
            <a:noFill/>
          </a:ln>
        </p:spPr>
        <p:style>
          <a:lnRef idx="0"/>
          <a:fillRef idx="0"/>
          <a:effectRef idx="0"/>
          <a:fontRef idx="minor"/>
        </p:style>
        <p:txBody>
          <a:bodyPr wrap="none" lIns="0" rIns="0" tIns="0" bIns="0" anchor="t">
            <a:noAutofit/>
          </a:bodyPr>
          <a:p>
            <a:pPr marL="343080" indent="-343080">
              <a:lnSpc>
                <a:spcPts val="2650"/>
              </a:lnSpc>
              <a:buClr>
                <a:srgbClr val="3c3939"/>
              </a:buClr>
              <a:buFont typeface="Symbol" charset="2"/>
              <a:buChar char=""/>
            </a:pPr>
            <a:endParaRPr b="0" lang="en-US" sz="1650" spc="-1" strike="noStrike">
              <a:solidFill>
                <a:srgbClr val="000000"/>
              </a:solidFill>
              <a:latin typeface="Arial"/>
            </a:endParaRPr>
          </a:p>
          <a:p>
            <a:pPr marL="343080" indent="-343080">
              <a:lnSpc>
                <a:spcPts val="2650"/>
              </a:lnSpc>
              <a:buClr>
                <a:srgbClr val="3c3939"/>
              </a:buClr>
              <a:buFont typeface="Symbol" charset="2"/>
              <a:buChar char=""/>
            </a:pPr>
            <a:r>
              <a:rPr b="0" lang="en-US" sz="1650" spc="-1" strike="noStrike">
                <a:solidFill>
                  <a:srgbClr val="3c3939"/>
                </a:solidFill>
                <a:latin typeface="Roboto"/>
                <a:ea typeface="Roboto"/>
              </a:rPr>
              <a:t>PageRank</a:t>
            </a:r>
            <a:endParaRPr b="0" lang="en-US" sz="1650" spc="-1" strike="noStrike">
              <a:solidFill>
                <a:srgbClr val="000000"/>
              </a:solidFill>
              <a:latin typeface="Arial"/>
            </a:endParaRPr>
          </a:p>
        </p:txBody>
      </p:sp>
      <p:sp>
        <p:nvSpPr>
          <p:cNvPr id="81" name="Text 13"/>
          <p:cNvSpPr/>
          <p:nvPr/>
        </p:nvSpPr>
        <p:spPr>
          <a:xfrm>
            <a:off x="1041840" y="6895800"/>
            <a:ext cx="7128360" cy="337320"/>
          </a:xfrm>
          <a:prstGeom prst="rect">
            <a:avLst/>
          </a:prstGeom>
          <a:noFill/>
          <a:ln w="0">
            <a:noFill/>
          </a:ln>
        </p:spPr>
        <p:style>
          <a:lnRef idx="0"/>
          <a:fillRef idx="0"/>
          <a:effectRef idx="0"/>
          <a:fontRef idx="minor"/>
        </p:style>
        <p:txBody>
          <a:bodyPr wrap="none" lIns="0" rIns="0" tIns="0" bIns="0" anchor="t">
            <a:noAutofit/>
          </a:bodyPr>
          <a:p>
            <a:pPr marL="343080" indent="-343080">
              <a:lnSpc>
                <a:spcPts val="2650"/>
              </a:lnSpc>
              <a:buClr>
                <a:srgbClr val="3c3939"/>
              </a:buClr>
              <a:buFont typeface="Symbol" charset="2"/>
              <a:buChar char=""/>
            </a:pPr>
            <a:endParaRPr b="0" lang="en-US" sz="1650" spc="-1" strike="noStrike">
              <a:solidFill>
                <a:srgbClr val="000000"/>
              </a:solidFill>
              <a:latin typeface="Arial"/>
            </a:endParaRPr>
          </a:p>
          <a:p>
            <a:pPr marL="343080" indent="-343080">
              <a:lnSpc>
                <a:spcPts val="2650"/>
              </a:lnSpc>
              <a:buClr>
                <a:srgbClr val="3c3939"/>
              </a:buClr>
              <a:buFont typeface="Symbol" charset="2"/>
              <a:buChar char=""/>
            </a:pPr>
            <a:r>
              <a:rPr b="0" lang="en-US" sz="1650" spc="-1" strike="noStrike">
                <a:solidFill>
                  <a:srgbClr val="3c3939"/>
                </a:solidFill>
                <a:latin typeface="Roboto"/>
                <a:ea typeface="Roboto"/>
              </a:rPr>
              <a:t>Louvain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Image 0" descr="preencoded.png"/>
          <p:cNvPicPr/>
          <p:nvPr/>
        </p:nvPicPr>
        <p:blipFill>
          <a:blip r:embed="rId1"/>
          <a:stretch/>
        </p:blipFill>
        <p:spPr>
          <a:xfrm>
            <a:off x="721080" y="1129680"/>
            <a:ext cx="5451120" cy="3103920"/>
          </a:xfrm>
          <a:prstGeom prst="rect">
            <a:avLst/>
          </a:prstGeom>
          <a:ln w="0">
            <a:noFill/>
          </a:ln>
        </p:spPr>
      </p:pic>
      <p:sp>
        <p:nvSpPr>
          <p:cNvPr id="83" name="Text 0"/>
          <p:cNvSpPr/>
          <p:nvPr/>
        </p:nvSpPr>
        <p:spPr>
          <a:xfrm>
            <a:off x="721080" y="4466160"/>
            <a:ext cx="4713840" cy="32112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2000" spc="-1" strike="noStrike">
                <a:solidFill>
                  <a:srgbClr val="1b1b27"/>
                </a:solidFill>
                <a:latin typeface="Raleway"/>
                <a:ea typeface="Raleway"/>
              </a:rPr>
              <a:t>Degree Distribution</a:t>
            </a:r>
            <a:endParaRPr b="0" lang="en-US" sz="2000" spc="-1" strike="noStrike">
              <a:solidFill>
                <a:srgbClr val="000000"/>
              </a:solidFill>
              <a:latin typeface="Arial"/>
            </a:endParaRPr>
          </a:p>
        </p:txBody>
      </p:sp>
      <p:sp>
        <p:nvSpPr>
          <p:cNvPr id="84" name="Text 1"/>
          <p:cNvSpPr/>
          <p:nvPr/>
        </p:nvSpPr>
        <p:spPr>
          <a:xfrm>
            <a:off x="721080" y="499392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Έντονα ασύμμετρη κατανομή.</a:t>
            </a:r>
            <a:endParaRPr b="0" lang="en-US" sz="1600" spc="-1" strike="noStrike">
              <a:solidFill>
                <a:srgbClr val="000000"/>
              </a:solidFill>
              <a:latin typeface="Arial"/>
            </a:endParaRPr>
          </a:p>
        </p:txBody>
      </p:sp>
      <p:sp>
        <p:nvSpPr>
          <p:cNvPr id="85" name="Text 2"/>
          <p:cNvSpPr/>
          <p:nvPr/>
        </p:nvSpPr>
        <p:spPr>
          <a:xfrm>
            <a:off x="721080" y="539568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Πολλοί χαρακτήρες έχουν χαμηλό βαθμό αλληλεπιδράσεων.</a:t>
            </a:r>
            <a:endParaRPr b="0" lang="en-US" sz="1600" spc="-1" strike="noStrike">
              <a:solidFill>
                <a:srgbClr val="000000"/>
              </a:solidFill>
              <a:latin typeface="Arial"/>
            </a:endParaRPr>
          </a:p>
        </p:txBody>
      </p:sp>
      <p:sp>
        <p:nvSpPr>
          <p:cNvPr id="86" name="Text 3"/>
          <p:cNvSpPr/>
          <p:nvPr/>
        </p:nvSpPr>
        <p:spPr>
          <a:xfrm>
            <a:off x="721080" y="579708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Ελάχιστοι χαρακτήρες παρουσιάζουν εξαιρετικά υψηλό βαθμό.</a:t>
            </a:r>
            <a:endParaRPr b="0" lang="en-US" sz="1600" spc="-1" strike="noStrike">
              <a:solidFill>
                <a:srgbClr val="000000"/>
              </a:solidFill>
              <a:latin typeface="Arial"/>
            </a:endParaRPr>
          </a:p>
        </p:txBody>
      </p:sp>
      <p:sp>
        <p:nvSpPr>
          <p:cNvPr id="87" name="Text 4"/>
          <p:cNvSpPr/>
          <p:nvPr/>
        </p:nvSpPr>
        <p:spPr>
          <a:xfrm>
            <a:off x="721080" y="6198840"/>
            <a:ext cx="6342120" cy="658440"/>
          </a:xfrm>
          <a:prstGeom prst="rect">
            <a:avLst/>
          </a:prstGeom>
          <a:noFill/>
          <a:ln w="0">
            <a:noFill/>
          </a:ln>
        </p:spPr>
        <p:style>
          <a:lnRef idx="0"/>
          <a:fillRef idx="0"/>
          <a:effectRef idx="0"/>
          <a:fontRef idx="minor"/>
        </p:style>
        <p:txBody>
          <a:bodyPr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Χαρακτηριστικό μοτίβο δικτύων scale-free.</a:t>
            </a:r>
            <a:endParaRPr b="0" lang="en-US" sz="1600" spc="-1" strike="noStrike">
              <a:solidFill>
                <a:srgbClr val="000000"/>
              </a:solidFill>
              <a:latin typeface="Arial"/>
            </a:endParaRPr>
          </a:p>
        </p:txBody>
      </p:sp>
      <p:sp>
        <p:nvSpPr>
          <p:cNvPr id="88" name="Text 5"/>
          <p:cNvSpPr/>
          <p:nvPr/>
        </p:nvSpPr>
        <p:spPr>
          <a:xfrm>
            <a:off x="721080" y="693000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endParaRPr b="0" lang="en-US" sz="1800" spc="-1" strike="noStrike">
              <a:solidFill>
                <a:srgbClr val="000000"/>
              </a:solidFill>
              <a:latin typeface="Arial"/>
            </a:endParaRPr>
          </a:p>
        </p:txBody>
      </p:sp>
      <p:pic>
        <p:nvPicPr>
          <p:cNvPr id="89" name="Image 1" descr="preencoded.png"/>
          <p:cNvPicPr/>
          <p:nvPr/>
        </p:nvPicPr>
        <p:blipFill>
          <a:blip r:embed="rId2"/>
          <a:stretch/>
        </p:blipFill>
        <p:spPr>
          <a:xfrm>
            <a:off x="7574040" y="1129680"/>
            <a:ext cx="5684760" cy="3103920"/>
          </a:xfrm>
          <a:prstGeom prst="rect">
            <a:avLst/>
          </a:prstGeom>
          <a:ln w="0">
            <a:noFill/>
          </a:ln>
        </p:spPr>
      </p:pic>
      <p:sp>
        <p:nvSpPr>
          <p:cNvPr id="90" name="Text 6"/>
          <p:cNvSpPr/>
          <p:nvPr/>
        </p:nvSpPr>
        <p:spPr>
          <a:xfrm>
            <a:off x="7574040" y="4466160"/>
            <a:ext cx="2574720" cy="32112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2000" spc="-1" strike="noStrike">
                <a:solidFill>
                  <a:srgbClr val="1b1b27"/>
                </a:solidFill>
                <a:latin typeface="Raleway"/>
                <a:ea typeface="Raleway"/>
              </a:rPr>
              <a:t> </a:t>
            </a:r>
            <a:r>
              <a:rPr b="0" lang="en-US" sz="2000" spc="-1" strike="noStrike">
                <a:solidFill>
                  <a:srgbClr val="1b1b27"/>
                </a:solidFill>
                <a:latin typeface="Raleway"/>
                <a:ea typeface="Raleway"/>
              </a:rPr>
              <a:t>Strength </a:t>
            </a:r>
            <a:r>
              <a:rPr b="0" lang="en-US" sz="2000" spc="-1" strike="noStrike">
                <a:solidFill>
                  <a:srgbClr val="1b1b27"/>
                </a:solidFill>
                <a:latin typeface="Raleway"/>
                <a:ea typeface="Raleway"/>
              </a:rPr>
              <a:t>Distribution</a:t>
            </a:r>
            <a:endParaRPr b="0" lang="en-US" sz="2000" spc="-1" strike="noStrike">
              <a:solidFill>
                <a:srgbClr val="000000"/>
              </a:solidFill>
              <a:latin typeface="Arial"/>
            </a:endParaRPr>
          </a:p>
        </p:txBody>
      </p:sp>
      <p:sp>
        <p:nvSpPr>
          <p:cNvPr id="91" name="Text 7"/>
          <p:cNvSpPr/>
          <p:nvPr/>
        </p:nvSpPr>
        <p:spPr>
          <a:xfrm>
            <a:off x="7574040" y="499392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Επιβεβαιώνεται η έντονη ασυμμετρία της κατανομή βαθμού.</a:t>
            </a:r>
            <a:endParaRPr b="0" lang="en-US" sz="1600" spc="-1" strike="noStrike">
              <a:solidFill>
                <a:srgbClr val="000000"/>
              </a:solidFill>
              <a:latin typeface="Arial"/>
            </a:endParaRPr>
          </a:p>
        </p:txBody>
      </p:sp>
      <p:sp>
        <p:nvSpPr>
          <p:cNvPr id="92" name="Text 8"/>
          <p:cNvSpPr/>
          <p:nvPr/>
        </p:nvSpPr>
        <p:spPr>
          <a:xfrm>
            <a:off x="7574040" y="5395680"/>
            <a:ext cx="6342120" cy="658440"/>
          </a:xfrm>
          <a:prstGeom prst="rect">
            <a:avLst/>
          </a:prstGeom>
          <a:noFill/>
          <a:ln w="0">
            <a:noFill/>
          </a:ln>
        </p:spPr>
        <p:style>
          <a:lnRef idx="0"/>
          <a:fillRef idx="0"/>
          <a:effectRef idx="0"/>
          <a:fontRef idx="minor"/>
        </p:style>
        <p:txBody>
          <a:bodyPr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Ελάχιστοι χαρακτήρες έχουν πολλές και σημαντικές αλληλεπιδράσεις.</a:t>
            </a:r>
            <a:endParaRPr b="0" lang="en-US" sz="1600" spc="-1" strike="noStrike">
              <a:solidFill>
                <a:srgbClr val="000000"/>
              </a:solidFill>
              <a:latin typeface="Arial"/>
            </a:endParaRPr>
          </a:p>
        </p:txBody>
      </p:sp>
      <p:sp>
        <p:nvSpPr>
          <p:cNvPr id="93" name="Text 9"/>
          <p:cNvSpPr/>
          <p:nvPr/>
        </p:nvSpPr>
        <p:spPr>
          <a:xfrm>
            <a:off x="7574040" y="6126840"/>
            <a:ext cx="6342120" cy="328680"/>
          </a:xfrm>
          <a:prstGeom prst="rect">
            <a:avLst/>
          </a:prstGeom>
          <a:noFill/>
          <a:ln w="0">
            <a:noFill/>
          </a:ln>
        </p:spPr>
        <p:style>
          <a:lnRef idx="0"/>
          <a:fillRef idx="0"/>
          <a:effectRef idx="0"/>
          <a:fontRef idx="minor"/>
        </p:style>
        <p:txBody>
          <a:bodyPr wrap="none"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Η συντριπτική πλειοψηφία έχει strength κοντά στο μηδέν.</a:t>
            </a:r>
            <a:endParaRPr b="0" lang="en-US" sz="1600" spc="-1" strike="noStrike">
              <a:solidFill>
                <a:srgbClr val="000000"/>
              </a:solidFill>
              <a:latin typeface="Arial"/>
            </a:endParaRPr>
          </a:p>
        </p:txBody>
      </p:sp>
      <p:sp>
        <p:nvSpPr>
          <p:cNvPr id="94" name="Text 10"/>
          <p:cNvSpPr/>
          <p:nvPr/>
        </p:nvSpPr>
        <p:spPr>
          <a:xfrm>
            <a:off x="7574040" y="6528240"/>
            <a:ext cx="6342120" cy="658440"/>
          </a:xfrm>
          <a:prstGeom prst="rect">
            <a:avLst/>
          </a:prstGeom>
          <a:noFill/>
          <a:ln w="0">
            <a:noFill/>
          </a:ln>
        </p:spPr>
        <p:style>
          <a:lnRef idx="0"/>
          <a:fillRef idx="0"/>
          <a:effectRef idx="0"/>
          <a:fontRef idx="minor"/>
        </p:style>
        <p:txBody>
          <a:bodyPr lIns="0" rIns="0" tIns="0" bIns="0" anchor="t">
            <a:noAutofit/>
          </a:bodyPr>
          <a:p>
            <a:pPr marL="343080" indent="-343080">
              <a:lnSpc>
                <a:spcPts val="2551"/>
              </a:lnSpc>
              <a:buClr>
                <a:srgbClr val="3c3939"/>
              </a:buClr>
              <a:buFont typeface="Symbol" charset="2"/>
              <a:buChar char=""/>
            </a:pPr>
            <a:r>
              <a:rPr b="0" lang="en-US" sz="1600" spc="-1" strike="noStrike">
                <a:solidFill>
                  <a:srgbClr val="3c3939"/>
                </a:solidFill>
                <a:latin typeface="Roboto"/>
                <a:ea typeface="Roboto"/>
              </a:rPr>
              <a:t>Υπογραμμίζει την ύπαρξη ελάχιστων χαρακτήρων ως κύριους άξονες των αλληλεπιδράσεων και της ιστορίας.</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Image 0" descr="preencoded.png"/>
          <p:cNvPicPr/>
          <p:nvPr/>
        </p:nvPicPr>
        <p:blipFill>
          <a:blip r:embed="rId1"/>
          <a:stretch/>
        </p:blipFill>
        <p:spPr>
          <a:xfrm>
            <a:off x="0" y="0"/>
            <a:ext cx="5485680" cy="8228880"/>
          </a:xfrm>
          <a:prstGeom prst="rect">
            <a:avLst/>
          </a:prstGeom>
          <a:ln w="0">
            <a:noFill/>
          </a:ln>
        </p:spPr>
      </p:pic>
      <p:pic>
        <p:nvPicPr>
          <p:cNvPr id="96" name="Image 1" descr="preencoded.png"/>
          <p:cNvPicPr/>
          <p:nvPr/>
        </p:nvPicPr>
        <p:blipFill>
          <a:blip r:embed="rId2"/>
          <a:stretch/>
        </p:blipFill>
        <p:spPr>
          <a:xfrm>
            <a:off x="283320" y="2743200"/>
            <a:ext cx="4918680" cy="2971800"/>
          </a:xfrm>
          <a:prstGeom prst="rect">
            <a:avLst/>
          </a:prstGeom>
          <a:ln w="0">
            <a:noFill/>
          </a:ln>
        </p:spPr>
      </p:pic>
      <p:sp>
        <p:nvSpPr>
          <p:cNvPr id="97" name="Text 0"/>
          <p:cNvSpPr/>
          <p:nvPr/>
        </p:nvSpPr>
        <p:spPr>
          <a:xfrm>
            <a:off x="6280200" y="1980000"/>
            <a:ext cx="7555680" cy="1133280"/>
          </a:xfrm>
          <a:prstGeom prst="rect">
            <a:avLst/>
          </a:prstGeom>
          <a:noFill/>
          <a:ln w="0">
            <a:noFill/>
          </a:ln>
        </p:spPr>
        <p:style>
          <a:lnRef idx="0"/>
          <a:fillRef idx="0"/>
          <a:effectRef idx="0"/>
          <a:fontRef idx="minor"/>
        </p:style>
        <p:txBody>
          <a:bodyPr lIns="0" rIns="0" tIns="0" bIns="0" anchor="t">
            <a:noAutofit/>
          </a:bodyPr>
          <a:p>
            <a:pPr>
              <a:lnSpc>
                <a:spcPts val="4450"/>
              </a:lnSpc>
              <a:tabLst>
                <a:tab algn="l" pos="0"/>
              </a:tabLst>
            </a:pPr>
            <a:r>
              <a:rPr b="0" lang="en-US" sz="3550" spc="-1" strike="noStrike">
                <a:solidFill>
                  <a:srgbClr val="1b1b27"/>
                </a:solidFill>
                <a:latin typeface="Raleway"/>
                <a:ea typeface="Raleway"/>
              </a:rPr>
              <a:t>Κορυφαίοι 10 Χαρακτήρες βάσει Βαθμού (Degree)</a:t>
            </a:r>
            <a:endParaRPr b="0" lang="en-US" sz="3550" spc="-1" strike="noStrike">
              <a:solidFill>
                <a:srgbClr val="000000"/>
              </a:solidFill>
              <a:latin typeface="Arial"/>
            </a:endParaRPr>
          </a:p>
        </p:txBody>
      </p:sp>
      <p:sp>
        <p:nvSpPr>
          <p:cNvPr id="98" name="Text 1"/>
          <p:cNvSpPr/>
          <p:nvPr/>
        </p:nvSpPr>
        <p:spPr>
          <a:xfrm>
            <a:off x="6280200" y="3454200"/>
            <a:ext cx="7555680" cy="145080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Ο βαθμός (degree) ενός κόμβου στο δίκτυο υποδηλώνει τον αριθμό των άμεσων συνδέσεων που έχει με άλλους κόμβους. Ένας χαρακτήρας με υψηλό βαθμό είναι αυτός που αλληλεπιδρά με τους περισσότερους άλλους χαρακτήρες.</a:t>
            </a:r>
            <a:endParaRPr b="0" lang="en-US" sz="1750" spc="-1" strike="noStrike">
              <a:solidFill>
                <a:srgbClr val="000000"/>
              </a:solidFill>
              <a:latin typeface="Arial"/>
            </a:endParaRPr>
          </a:p>
        </p:txBody>
      </p:sp>
      <p:sp>
        <p:nvSpPr>
          <p:cNvPr id="99" name="Text 2"/>
          <p:cNvSpPr/>
          <p:nvPr/>
        </p:nvSpPr>
        <p:spPr>
          <a:xfrm>
            <a:off x="6280200" y="5160960"/>
            <a:ext cx="7555680" cy="108792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Όπως φαίνεται στο παραπάνω γράφημα, ο Tyrion Lannister έχει τον υψηλότερο βαθμό, υποδηλώνοντας τη μεγαλύτερη διασύνδεσή του στο δίκτυο. Ακολουθούν ο Jon Snow, η Sansa Stark και η Arya Stark.</a:t>
            </a: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Image 0" descr="preencoded.png"/>
          <p:cNvPicPr/>
          <p:nvPr/>
        </p:nvPicPr>
        <p:blipFill>
          <a:blip r:embed="rId1"/>
          <a:stretch/>
        </p:blipFill>
        <p:spPr>
          <a:xfrm>
            <a:off x="0" y="0"/>
            <a:ext cx="5485680" cy="8228880"/>
          </a:xfrm>
          <a:prstGeom prst="rect">
            <a:avLst/>
          </a:prstGeom>
          <a:ln w="0">
            <a:noFill/>
          </a:ln>
        </p:spPr>
      </p:pic>
      <p:pic>
        <p:nvPicPr>
          <p:cNvPr id="101" name="Image 1" descr="preencoded.png"/>
          <p:cNvPicPr/>
          <p:nvPr/>
        </p:nvPicPr>
        <p:blipFill>
          <a:blip r:embed="rId2"/>
          <a:stretch/>
        </p:blipFill>
        <p:spPr>
          <a:xfrm>
            <a:off x="283320" y="2743200"/>
            <a:ext cx="4918680" cy="2971800"/>
          </a:xfrm>
          <a:prstGeom prst="rect">
            <a:avLst/>
          </a:prstGeom>
          <a:ln w="0">
            <a:noFill/>
          </a:ln>
        </p:spPr>
      </p:pic>
      <p:sp>
        <p:nvSpPr>
          <p:cNvPr id="102" name="Text 0"/>
          <p:cNvSpPr/>
          <p:nvPr/>
        </p:nvSpPr>
        <p:spPr>
          <a:xfrm>
            <a:off x="6280200" y="2342880"/>
            <a:ext cx="7555680" cy="1133280"/>
          </a:xfrm>
          <a:prstGeom prst="rect">
            <a:avLst/>
          </a:prstGeom>
          <a:noFill/>
          <a:ln w="0">
            <a:noFill/>
          </a:ln>
        </p:spPr>
        <p:style>
          <a:lnRef idx="0"/>
          <a:fillRef idx="0"/>
          <a:effectRef idx="0"/>
          <a:fontRef idx="minor"/>
        </p:style>
        <p:txBody>
          <a:bodyPr lIns="0" rIns="0" tIns="0" bIns="0" anchor="t">
            <a:noAutofit/>
          </a:bodyPr>
          <a:p>
            <a:pPr>
              <a:lnSpc>
                <a:spcPts val="4450"/>
              </a:lnSpc>
              <a:tabLst>
                <a:tab algn="l" pos="0"/>
              </a:tabLst>
            </a:pPr>
            <a:r>
              <a:rPr b="0" lang="en-US" sz="3550" spc="-1" strike="noStrike">
                <a:solidFill>
                  <a:srgbClr val="1b1b27"/>
                </a:solidFill>
                <a:latin typeface="Raleway"/>
                <a:ea typeface="Raleway"/>
              </a:rPr>
              <a:t>Κορυφαίοι 10 Χαρακτήρες βάσει Strength</a:t>
            </a:r>
            <a:endParaRPr b="0" lang="en-US" sz="3550" spc="-1" strike="noStrike">
              <a:solidFill>
                <a:srgbClr val="000000"/>
              </a:solidFill>
              <a:latin typeface="Arial"/>
            </a:endParaRPr>
          </a:p>
        </p:txBody>
      </p:sp>
      <p:sp>
        <p:nvSpPr>
          <p:cNvPr id="103" name="Text 1"/>
          <p:cNvSpPr/>
          <p:nvPr/>
        </p:nvSpPr>
        <p:spPr>
          <a:xfrm>
            <a:off x="6280200" y="3817080"/>
            <a:ext cx="7555680" cy="108792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Το Strength αντιπροσωπεύει όχι μόνο τον αριθμό των αλληλεπιδράσεων αλλά και την ποσότητα τους. Ένας χαρακτήρας με υψηλό strength έχει πολλές αλληλεπιδράσεις.</a:t>
            </a:r>
            <a:endParaRPr b="0" lang="en-US" sz="1750" spc="-1" strike="noStrike">
              <a:solidFill>
                <a:srgbClr val="000000"/>
              </a:solidFill>
              <a:latin typeface="Arial"/>
            </a:endParaRPr>
          </a:p>
        </p:txBody>
      </p:sp>
      <p:sp>
        <p:nvSpPr>
          <p:cNvPr id="104" name="Text 2"/>
          <p:cNvSpPr/>
          <p:nvPr/>
        </p:nvSpPr>
        <p:spPr>
          <a:xfrm>
            <a:off x="6280200" y="5160960"/>
            <a:ext cx="7555680" cy="72504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Και σε αυτή τη μέτρηση, ο Tyrion διατηρεί την κορυφαία θέση, ακολουθούμενος από τον Jon και την Daenerys. </a:t>
            </a: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Image 0" descr="preencoded.png"/>
          <p:cNvPicPr/>
          <p:nvPr/>
        </p:nvPicPr>
        <p:blipFill>
          <a:blip r:embed="rId1"/>
          <a:stretch/>
        </p:blipFill>
        <p:spPr>
          <a:xfrm>
            <a:off x="0" y="0"/>
            <a:ext cx="5485680" cy="8228880"/>
          </a:xfrm>
          <a:prstGeom prst="rect">
            <a:avLst/>
          </a:prstGeom>
          <a:ln w="0">
            <a:noFill/>
          </a:ln>
        </p:spPr>
      </p:pic>
      <p:pic>
        <p:nvPicPr>
          <p:cNvPr id="106" name="Image 1" descr="preencoded.png"/>
          <p:cNvPicPr/>
          <p:nvPr/>
        </p:nvPicPr>
        <p:blipFill>
          <a:blip r:embed="rId2"/>
          <a:stretch/>
        </p:blipFill>
        <p:spPr>
          <a:xfrm>
            <a:off x="283320" y="2743200"/>
            <a:ext cx="4918680" cy="2971800"/>
          </a:xfrm>
          <a:prstGeom prst="rect">
            <a:avLst/>
          </a:prstGeom>
          <a:ln w="0">
            <a:noFill/>
          </a:ln>
        </p:spPr>
      </p:pic>
      <p:sp>
        <p:nvSpPr>
          <p:cNvPr id="107" name="Text 0"/>
          <p:cNvSpPr/>
          <p:nvPr/>
        </p:nvSpPr>
        <p:spPr>
          <a:xfrm>
            <a:off x="6280200" y="1152000"/>
            <a:ext cx="7555680" cy="1700280"/>
          </a:xfrm>
          <a:prstGeom prst="rect">
            <a:avLst/>
          </a:prstGeom>
          <a:noFill/>
          <a:ln w="0">
            <a:noFill/>
          </a:ln>
        </p:spPr>
        <p:style>
          <a:lnRef idx="0"/>
          <a:fillRef idx="0"/>
          <a:effectRef idx="0"/>
          <a:fontRef idx="minor"/>
        </p:style>
        <p:txBody>
          <a:bodyPr lIns="0" rIns="0" tIns="0" bIns="0" anchor="t">
            <a:noAutofit/>
          </a:bodyPr>
          <a:p>
            <a:pPr>
              <a:lnSpc>
                <a:spcPts val="4450"/>
              </a:lnSpc>
              <a:tabLst>
                <a:tab algn="l" pos="0"/>
              </a:tabLst>
            </a:pPr>
            <a:r>
              <a:rPr b="0" lang="en-US" sz="3550" spc="-1" strike="noStrike">
                <a:solidFill>
                  <a:srgbClr val="1b1b27"/>
                </a:solidFill>
                <a:latin typeface="Raleway"/>
                <a:ea typeface="Raleway"/>
              </a:rPr>
              <a:t>Κορυφαίοι 10 Χαρακτήρες βάσει  Betweenness</a:t>
            </a:r>
            <a:endParaRPr b="0" lang="en-US" sz="3550" spc="-1" strike="noStrike">
              <a:solidFill>
                <a:srgbClr val="000000"/>
              </a:solidFill>
              <a:latin typeface="Arial"/>
            </a:endParaRPr>
          </a:p>
        </p:txBody>
      </p:sp>
      <p:sp>
        <p:nvSpPr>
          <p:cNvPr id="108" name="Text 1"/>
          <p:cNvSpPr/>
          <p:nvPr/>
        </p:nvSpPr>
        <p:spPr>
          <a:xfrm>
            <a:off x="6280200" y="3193200"/>
            <a:ext cx="7555680" cy="145080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Το Betweenness μετρά τον αριθμό των φορών που ένας κόμβος βρίσκεται στην πιο σύντομη διαδρομή μεταξύ άλλων ζευγαριών κόμβων. Χαρακτήρες με υψηλό betweenness λειτουργούν ως γέφυρες που συνδέουν διαφορετικά μέρη του δικτύου.</a:t>
            </a:r>
            <a:endParaRPr b="0" lang="en-US" sz="1750" spc="-1" strike="noStrike">
              <a:solidFill>
                <a:srgbClr val="000000"/>
              </a:solidFill>
              <a:latin typeface="Arial"/>
            </a:endParaRPr>
          </a:p>
        </p:txBody>
      </p:sp>
      <p:sp>
        <p:nvSpPr>
          <p:cNvPr id="109" name="Text 2"/>
          <p:cNvSpPr/>
          <p:nvPr/>
        </p:nvSpPr>
        <p:spPr>
          <a:xfrm>
            <a:off x="6280200" y="4899960"/>
            <a:ext cx="7555680" cy="217656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b="0" lang="en-US" sz="1750" spc="-1" strike="noStrike">
                <a:solidFill>
                  <a:srgbClr val="3c3939"/>
                </a:solidFill>
                <a:latin typeface="Roboto"/>
                <a:ea typeface="Roboto"/>
              </a:rPr>
              <a:t>Ο Tyrion Lannister αναδεικνύεται και εδώ με το μεγαλύτερο betweenness. Αυτό υποδηλώνει ότι ο Tyrion δεν είναι απλώς ένας χαρακτήρας με πολλές αλληλεπιδράσεις, αλλά και ο σημαντικότερος συνδετικός κρίκος που διευκολύνει τη ροή πληροφοριών και τις αλληλεπιδράσεις μεταξύ διαφορετικών ομάδων και ιστοριών του δικτύου.</a:t>
            </a: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Image 0" descr="preencoded.png"/>
          <p:cNvPicPr/>
          <p:nvPr/>
        </p:nvPicPr>
        <p:blipFill>
          <a:blip r:embed="rId1"/>
          <a:stretch/>
        </p:blipFill>
        <p:spPr>
          <a:xfrm>
            <a:off x="9144000" y="0"/>
            <a:ext cx="5485680" cy="8228880"/>
          </a:xfrm>
          <a:prstGeom prst="rect">
            <a:avLst/>
          </a:prstGeom>
          <a:ln w="0">
            <a:noFill/>
          </a:ln>
        </p:spPr>
      </p:pic>
      <p:pic>
        <p:nvPicPr>
          <p:cNvPr id="111" name="Image 1" descr="preencoded.png"/>
          <p:cNvPicPr/>
          <p:nvPr/>
        </p:nvPicPr>
        <p:blipFill>
          <a:blip r:embed="rId2"/>
          <a:stretch/>
        </p:blipFill>
        <p:spPr>
          <a:xfrm>
            <a:off x="9427320" y="2743200"/>
            <a:ext cx="4918680" cy="2971800"/>
          </a:xfrm>
          <a:prstGeom prst="rect">
            <a:avLst/>
          </a:prstGeom>
          <a:ln w="0">
            <a:noFill/>
          </a:ln>
        </p:spPr>
      </p:pic>
      <p:sp>
        <p:nvSpPr>
          <p:cNvPr id="112" name="Text 0"/>
          <p:cNvSpPr/>
          <p:nvPr/>
        </p:nvSpPr>
        <p:spPr>
          <a:xfrm>
            <a:off x="793800" y="1296720"/>
            <a:ext cx="7555680" cy="1133280"/>
          </a:xfrm>
          <a:prstGeom prst="rect">
            <a:avLst/>
          </a:prstGeom>
          <a:noFill/>
          <a:ln w="0">
            <a:noFill/>
          </a:ln>
        </p:spPr>
        <p:style>
          <a:lnRef idx="0"/>
          <a:fillRef idx="0"/>
          <a:effectRef idx="0"/>
          <a:fontRef idx="minor"/>
        </p:style>
        <p:txBody>
          <a:bodyPr lIns="0" rIns="0" tIns="0" bIns="0" anchor="t">
            <a:noAutofit/>
          </a:bodyPr>
          <a:p>
            <a:pPr>
              <a:lnSpc>
                <a:spcPts val="4450"/>
              </a:lnSpc>
              <a:tabLst>
                <a:tab algn="l" pos="0"/>
              </a:tabLst>
            </a:pPr>
            <a:r>
              <a:rPr b="0" lang="en-US" sz="3550" spc="-1" strike="noStrike">
                <a:solidFill>
                  <a:srgbClr val="1b1b27"/>
                </a:solidFill>
                <a:latin typeface="Raleway"/>
                <a:ea typeface="Raleway"/>
              </a:rPr>
              <a:t>Κορυφαίοι 10 Χαρακτήρες βάσει PageRank</a:t>
            </a:r>
            <a:endParaRPr b="0" lang="en-US" sz="3550" spc="-1" strike="noStrike">
              <a:solidFill>
                <a:srgbClr val="000000"/>
              </a:solidFill>
              <a:latin typeface="Arial"/>
            </a:endParaRPr>
          </a:p>
        </p:txBody>
      </p:sp>
      <p:sp>
        <p:nvSpPr>
          <p:cNvPr id="113" name="Text 1"/>
          <p:cNvSpPr/>
          <p:nvPr/>
        </p:nvSpPr>
        <p:spPr>
          <a:xfrm>
            <a:off x="793800" y="277092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1" lang="en-US" sz="1750" spc="-1" strike="noStrike">
                <a:solidFill>
                  <a:srgbClr val="3c3939"/>
                </a:solidFill>
                <a:latin typeface="Roboto"/>
                <a:ea typeface="Roboto"/>
              </a:rPr>
              <a:t>PageRank</a:t>
            </a:r>
            <a:endParaRPr b="0" lang="en-US" sz="1750" spc="-1" strike="noStrike">
              <a:solidFill>
                <a:srgbClr val="000000"/>
              </a:solidFill>
              <a:latin typeface="Arial"/>
            </a:endParaRPr>
          </a:p>
        </p:txBody>
      </p:sp>
      <p:sp>
        <p:nvSpPr>
          <p:cNvPr id="114" name="Text 2"/>
          <p:cNvSpPr/>
          <p:nvPr/>
        </p:nvSpPr>
        <p:spPr>
          <a:xfrm>
            <a:off x="793800" y="3389040"/>
            <a:ext cx="7555680" cy="362160"/>
          </a:xfrm>
          <a:prstGeom prst="rect">
            <a:avLst/>
          </a:prstGeom>
          <a:noFill/>
          <a:ln w="0">
            <a:noFill/>
          </a:ln>
        </p:spPr>
        <p:style>
          <a:lnRef idx="0"/>
          <a:fillRef idx="0"/>
          <a:effectRef idx="0"/>
          <a:fontRef idx="minor"/>
        </p:style>
        <p:txBody>
          <a:bodyPr wrap="none" lIns="0" rIns="0" tIns="0" bIns="0" anchor="t">
            <a:noAutofit/>
          </a:bodyPr>
          <a:p>
            <a:pPr marL="343080" indent="-343080">
              <a:lnSpc>
                <a:spcPts val="2849"/>
              </a:lnSpc>
              <a:buClr>
                <a:srgbClr val="3c3939"/>
              </a:buClr>
              <a:buFont typeface="Symbol" charset="2"/>
              <a:buChar char=""/>
            </a:pPr>
            <a:r>
              <a:rPr b="0" lang="en-US" sz="1750" spc="-1" strike="noStrike">
                <a:solidFill>
                  <a:srgbClr val="3c3939"/>
                </a:solidFill>
                <a:latin typeface="Roboto"/>
                <a:ea typeface="Roboto"/>
              </a:rPr>
              <a:t>Μετρά τη σημασία ενός χαρακτήρα στο δίκτυο</a:t>
            </a:r>
            <a:endParaRPr b="0" lang="en-US" sz="1750" spc="-1" strike="noStrike">
              <a:solidFill>
                <a:srgbClr val="000000"/>
              </a:solidFill>
              <a:latin typeface="Arial"/>
            </a:endParaRPr>
          </a:p>
        </p:txBody>
      </p:sp>
      <p:sp>
        <p:nvSpPr>
          <p:cNvPr id="115" name="Text 3"/>
          <p:cNvSpPr/>
          <p:nvPr/>
        </p:nvSpPr>
        <p:spPr>
          <a:xfrm>
            <a:off x="793800" y="3831120"/>
            <a:ext cx="7555680" cy="362160"/>
          </a:xfrm>
          <a:prstGeom prst="rect">
            <a:avLst/>
          </a:prstGeom>
          <a:noFill/>
          <a:ln w="0">
            <a:noFill/>
          </a:ln>
        </p:spPr>
        <p:style>
          <a:lnRef idx="0"/>
          <a:fillRef idx="0"/>
          <a:effectRef idx="0"/>
          <a:fontRef idx="minor"/>
        </p:style>
        <p:txBody>
          <a:bodyPr wrap="none" lIns="0" rIns="0" tIns="0" bIns="0" anchor="t">
            <a:noAutofit/>
          </a:bodyPr>
          <a:p>
            <a:pPr marL="343080" indent="-343080">
              <a:lnSpc>
                <a:spcPts val="2849"/>
              </a:lnSpc>
              <a:buClr>
                <a:srgbClr val="3c3939"/>
              </a:buClr>
              <a:buFont typeface="Symbol" charset="2"/>
              <a:buChar char=""/>
            </a:pPr>
            <a:r>
              <a:rPr b="0" lang="en-US" sz="1750" spc="-1" strike="noStrike">
                <a:solidFill>
                  <a:srgbClr val="3c3939"/>
                </a:solidFill>
                <a:latin typeface="Roboto"/>
                <a:ea typeface="Roboto"/>
              </a:rPr>
              <a:t>Δεν αρκεί να έχει μόνο πολλές συνδέσεις</a:t>
            </a:r>
            <a:endParaRPr b="0" lang="en-US" sz="1750" spc="-1" strike="noStrike">
              <a:solidFill>
                <a:srgbClr val="000000"/>
              </a:solidFill>
              <a:latin typeface="Arial"/>
            </a:endParaRPr>
          </a:p>
          <a:p>
            <a:pPr marL="343080" indent="-343080">
              <a:lnSpc>
                <a:spcPts val="2849"/>
              </a:lnSpc>
              <a:buClr>
                <a:srgbClr val="3c3939"/>
              </a:buClr>
              <a:buFont typeface="Symbol" charset="2"/>
              <a:buChar char=""/>
              <a:tabLst>
                <a:tab algn="l" pos="0"/>
              </a:tabLst>
            </a:pPr>
            <a:endParaRPr b="0" lang="en-US" sz="1750" spc="-1" strike="noStrike">
              <a:solidFill>
                <a:srgbClr val="000000"/>
              </a:solidFill>
              <a:latin typeface="Arial"/>
            </a:endParaRPr>
          </a:p>
          <a:p>
            <a:pPr marL="343080" indent="-343080">
              <a:lnSpc>
                <a:spcPts val="2849"/>
              </a:lnSpc>
              <a:buClr>
                <a:srgbClr val="3c3939"/>
              </a:buClr>
              <a:buFont typeface="Symbol" charset="2"/>
              <a:buChar char=""/>
            </a:pPr>
            <a:endParaRPr b="0" lang="en-US" sz="1750" spc="-1" strike="noStrike">
              <a:solidFill>
                <a:srgbClr val="000000"/>
              </a:solidFill>
              <a:latin typeface="Arial"/>
            </a:endParaRPr>
          </a:p>
        </p:txBody>
      </p:sp>
      <p:sp>
        <p:nvSpPr>
          <p:cNvPr id="116" name="Text 4"/>
          <p:cNvSpPr/>
          <p:nvPr/>
        </p:nvSpPr>
        <p:spPr>
          <a:xfrm>
            <a:off x="793800" y="427356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800" spc="-1" strike="noStrike">
              <a:solidFill>
                <a:srgbClr val="000000"/>
              </a:solidFill>
              <a:latin typeface="Arial"/>
            </a:endParaRPr>
          </a:p>
        </p:txBody>
      </p:sp>
      <p:sp>
        <p:nvSpPr>
          <p:cNvPr id="117" name="Text 5"/>
          <p:cNvSpPr/>
          <p:nvPr/>
        </p:nvSpPr>
        <p:spPr>
          <a:xfrm>
            <a:off x="793800" y="489132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1" lang="en-US" sz="1750" spc="-1" strike="noStrike">
                <a:solidFill>
                  <a:srgbClr val="3c3939"/>
                </a:solidFill>
                <a:latin typeface="Roboto"/>
                <a:ea typeface="Roboto"/>
              </a:rPr>
              <a:t>Αποτελέσματα</a:t>
            </a:r>
            <a:endParaRPr b="0" lang="en-US" sz="1750" spc="-1" strike="noStrike">
              <a:solidFill>
                <a:srgbClr val="000000"/>
              </a:solidFill>
              <a:latin typeface="Arial"/>
            </a:endParaRPr>
          </a:p>
        </p:txBody>
      </p:sp>
      <p:sp>
        <p:nvSpPr>
          <p:cNvPr id="118" name="Text 6"/>
          <p:cNvSpPr/>
          <p:nvPr/>
        </p:nvSpPr>
        <p:spPr>
          <a:xfrm>
            <a:off x="793800" y="5509440"/>
            <a:ext cx="7555680" cy="362160"/>
          </a:xfrm>
          <a:prstGeom prst="rect">
            <a:avLst/>
          </a:prstGeom>
          <a:noFill/>
          <a:ln w="0">
            <a:noFill/>
          </a:ln>
        </p:spPr>
        <p:style>
          <a:lnRef idx="0"/>
          <a:fillRef idx="0"/>
          <a:effectRef idx="0"/>
          <a:fontRef idx="minor"/>
        </p:style>
        <p:txBody>
          <a:bodyPr wrap="none" lIns="0" rIns="0" tIns="0" bIns="0" anchor="t">
            <a:noAutofit/>
          </a:bodyPr>
          <a:p>
            <a:pPr marL="343080" indent="-343080">
              <a:lnSpc>
                <a:spcPts val="2849"/>
              </a:lnSpc>
              <a:buClr>
                <a:srgbClr val="3c3939"/>
              </a:buClr>
              <a:buFont typeface="Symbol" charset="2"/>
              <a:buChar char=""/>
            </a:pPr>
            <a:r>
              <a:rPr b="0" lang="en-US" sz="1750" spc="-1" strike="noStrike">
                <a:solidFill>
                  <a:srgbClr val="3c3939"/>
                </a:solidFill>
                <a:latin typeface="Roboto"/>
                <a:ea typeface="Roboto"/>
              </a:rPr>
              <a:t>Tyrion, Jon και Daenerys έχουν τα υψηλότερα PageRank</a:t>
            </a:r>
            <a:endParaRPr b="0" lang="en-US" sz="1750" spc="-1" strike="noStrike">
              <a:solidFill>
                <a:srgbClr val="000000"/>
              </a:solidFill>
              <a:latin typeface="Arial"/>
            </a:endParaRPr>
          </a:p>
        </p:txBody>
      </p:sp>
      <p:sp>
        <p:nvSpPr>
          <p:cNvPr id="119" name="Text 7"/>
          <p:cNvSpPr/>
          <p:nvPr/>
        </p:nvSpPr>
        <p:spPr>
          <a:xfrm>
            <a:off x="793800" y="5951520"/>
            <a:ext cx="7555680" cy="362160"/>
          </a:xfrm>
          <a:prstGeom prst="rect">
            <a:avLst/>
          </a:prstGeom>
          <a:noFill/>
          <a:ln w="0">
            <a:noFill/>
          </a:ln>
        </p:spPr>
        <p:style>
          <a:lnRef idx="0"/>
          <a:fillRef idx="0"/>
          <a:effectRef idx="0"/>
          <a:fontRef idx="minor"/>
        </p:style>
        <p:txBody>
          <a:bodyPr wrap="none" lIns="0" rIns="0" tIns="0" bIns="0" anchor="t">
            <a:noAutofit/>
          </a:bodyPr>
          <a:p>
            <a:pPr marL="343080" indent="-343080">
              <a:lnSpc>
                <a:spcPts val="2849"/>
              </a:lnSpc>
              <a:buClr>
                <a:srgbClr val="3c3939"/>
              </a:buClr>
              <a:buFont typeface="Symbol" charset="2"/>
              <a:buChar char=""/>
            </a:pPr>
            <a:r>
              <a:rPr b="0" lang="en-US" sz="1750" spc="-1" strike="noStrike">
                <a:solidFill>
                  <a:srgbClr val="3c3939"/>
                </a:solidFill>
                <a:latin typeface="Roboto"/>
                <a:ea typeface="Roboto"/>
              </a:rPr>
              <a:t>Αλληλεπιδρούν με άλλους πολύ σημαντικούς χαρακτήρες</a:t>
            </a:r>
            <a:endParaRPr b="0" lang="en-US" sz="1750" spc="-1" strike="noStrike">
              <a:solidFill>
                <a:srgbClr val="000000"/>
              </a:solidFill>
              <a:latin typeface="Arial"/>
            </a:endParaRPr>
          </a:p>
        </p:txBody>
      </p:sp>
      <p:sp>
        <p:nvSpPr>
          <p:cNvPr id="120" name="Text 8"/>
          <p:cNvSpPr/>
          <p:nvPr/>
        </p:nvSpPr>
        <p:spPr>
          <a:xfrm>
            <a:off x="793800" y="656964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 0"/>
          <p:cNvSpPr/>
          <p:nvPr/>
        </p:nvSpPr>
        <p:spPr>
          <a:xfrm>
            <a:off x="793800" y="1013040"/>
            <a:ext cx="4868280" cy="566280"/>
          </a:xfrm>
          <a:prstGeom prst="rect">
            <a:avLst/>
          </a:prstGeom>
          <a:noFill/>
          <a:ln w="0">
            <a:noFill/>
          </a:ln>
        </p:spPr>
        <p:style>
          <a:lnRef idx="0"/>
          <a:fillRef idx="0"/>
          <a:effectRef idx="0"/>
          <a:fontRef idx="minor"/>
        </p:style>
        <p:txBody>
          <a:bodyPr wrap="none" lIns="0" rIns="0" tIns="0" bIns="0" anchor="t">
            <a:noAutofit/>
          </a:bodyPr>
          <a:p>
            <a:pPr>
              <a:lnSpc>
                <a:spcPts val="4450"/>
              </a:lnSpc>
              <a:tabLst>
                <a:tab algn="l" pos="0"/>
              </a:tabLst>
            </a:pPr>
            <a:r>
              <a:rPr b="0" lang="en-US" sz="3550" spc="-1" strike="noStrike">
                <a:solidFill>
                  <a:srgbClr val="1b1b27"/>
                </a:solidFill>
                <a:latin typeface="Raleway"/>
                <a:ea typeface="Raleway"/>
              </a:rPr>
              <a:t>Ανίχνευση Κοινοτήτων</a:t>
            </a:r>
            <a:endParaRPr b="0" lang="en-US" sz="3550" spc="-1" strike="noStrike">
              <a:solidFill>
                <a:srgbClr val="000000"/>
              </a:solidFill>
              <a:latin typeface="Arial"/>
            </a:endParaRPr>
          </a:p>
        </p:txBody>
      </p:sp>
      <p:sp>
        <p:nvSpPr>
          <p:cNvPr id="122" name="Text 1"/>
          <p:cNvSpPr/>
          <p:nvPr/>
        </p:nvSpPr>
        <p:spPr>
          <a:xfrm>
            <a:off x="1283760" y="2072880"/>
            <a:ext cx="3748320" cy="353520"/>
          </a:xfrm>
          <a:prstGeom prst="rect">
            <a:avLst/>
          </a:prstGeom>
          <a:noFill/>
          <a:ln w="0">
            <a:noFill/>
          </a:ln>
        </p:spPr>
        <p:style>
          <a:lnRef idx="0"/>
          <a:fillRef idx="0"/>
          <a:effectRef idx="0"/>
          <a:fontRef idx="minor"/>
        </p:style>
        <p:txBody>
          <a:bodyPr wrap="none" lIns="0" rIns="0" tIns="0" bIns="0" anchor="t">
            <a:noAutofit/>
          </a:bodyPr>
          <a:p>
            <a:pPr algn="r">
              <a:lnSpc>
                <a:spcPts val="2750"/>
              </a:lnSpc>
              <a:tabLst>
                <a:tab algn="l" pos="0"/>
              </a:tabLst>
            </a:pPr>
            <a:r>
              <a:rPr b="0" lang="en-US" sz="2200" spc="-1" strike="noStrike">
                <a:solidFill>
                  <a:srgbClr val="3c3939"/>
                </a:solidFill>
                <a:latin typeface="Raleway"/>
                <a:ea typeface="Raleway"/>
              </a:rPr>
              <a:t>Community 1: King's Landing</a:t>
            </a:r>
            <a:endParaRPr b="0" lang="en-US" sz="2200" spc="-1" strike="noStrike">
              <a:solidFill>
                <a:srgbClr val="000000"/>
              </a:solidFill>
              <a:latin typeface="Arial"/>
            </a:endParaRPr>
          </a:p>
        </p:txBody>
      </p:sp>
      <p:sp>
        <p:nvSpPr>
          <p:cNvPr id="123" name="Text 2"/>
          <p:cNvSpPr/>
          <p:nvPr/>
        </p:nvSpPr>
        <p:spPr>
          <a:xfrm>
            <a:off x="793800" y="2563200"/>
            <a:ext cx="4238280" cy="362160"/>
          </a:xfrm>
          <a:prstGeom prst="rect">
            <a:avLst/>
          </a:prstGeom>
          <a:noFill/>
          <a:ln w="0">
            <a:noFill/>
          </a:ln>
        </p:spPr>
        <p:style>
          <a:lnRef idx="0"/>
          <a:fillRef idx="0"/>
          <a:effectRef idx="0"/>
          <a:fontRef idx="minor"/>
        </p:style>
        <p:txBody>
          <a:bodyPr wrap="none" lIns="0" rIns="0" tIns="0" bIns="0" anchor="t">
            <a:noAutofit/>
          </a:bodyPr>
          <a:p>
            <a:pPr algn="r">
              <a:lnSpc>
                <a:spcPts val="2849"/>
              </a:lnSpc>
              <a:tabLst>
                <a:tab algn="l" pos="0"/>
              </a:tabLst>
            </a:pPr>
            <a:r>
              <a:rPr b="0" lang="en-US" sz="1750" spc="-1" strike="noStrike">
                <a:solidFill>
                  <a:srgbClr val="3c3939"/>
                </a:solidFill>
                <a:latin typeface="Roboto"/>
                <a:ea typeface="Roboto"/>
              </a:rPr>
              <a:t>Tyrion, Cersei, Jaime</a:t>
            </a:r>
            <a:endParaRPr b="0" lang="en-US" sz="1750" spc="-1" strike="noStrike">
              <a:solidFill>
                <a:srgbClr val="000000"/>
              </a:solidFill>
              <a:latin typeface="Arial"/>
            </a:endParaRPr>
          </a:p>
        </p:txBody>
      </p:sp>
      <p:pic>
        <p:nvPicPr>
          <p:cNvPr id="124" name="Image 0" descr="preencoded.png"/>
          <p:cNvPicPr/>
          <p:nvPr/>
        </p:nvPicPr>
        <p:blipFill>
          <a:blip r:embed="rId1"/>
          <a:stretch/>
        </p:blipFill>
        <p:spPr>
          <a:xfrm>
            <a:off x="5032800" y="2033640"/>
            <a:ext cx="4564080" cy="4564080"/>
          </a:xfrm>
          <a:prstGeom prst="rect">
            <a:avLst/>
          </a:prstGeom>
          <a:ln w="0">
            <a:noFill/>
          </a:ln>
        </p:spPr>
      </p:pic>
      <p:pic>
        <p:nvPicPr>
          <p:cNvPr id="125" name="Image 1" descr="preencoded.png"/>
          <p:cNvPicPr/>
          <p:nvPr/>
        </p:nvPicPr>
        <p:blipFill>
          <a:blip r:embed="rId2">
            <a:extLst>
              <a:ext uri="{96DAC541-7B7A-43D3-8B79-37D633B846F1}">
                <asvg:svgBlip xmlns:asvg="http://schemas.microsoft.com/office/drawing/2016/SVG/main" r:embed="rId3"/>
              </a:ext>
            </a:extLst>
          </a:blip>
          <a:stretch/>
        </p:blipFill>
        <p:spPr>
          <a:xfrm>
            <a:off x="6567840" y="3138480"/>
            <a:ext cx="318240" cy="318240"/>
          </a:xfrm>
          <a:prstGeom prst="rect">
            <a:avLst/>
          </a:prstGeom>
          <a:ln w="0">
            <a:noFill/>
          </a:ln>
        </p:spPr>
      </p:pic>
      <p:sp>
        <p:nvSpPr>
          <p:cNvPr id="126" name="Text 3"/>
          <p:cNvSpPr/>
          <p:nvPr/>
        </p:nvSpPr>
        <p:spPr>
          <a:xfrm>
            <a:off x="9597600" y="2072880"/>
            <a:ext cx="3177720" cy="3535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0" lang="en-US" sz="2200" spc="-1" strike="noStrike">
                <a:solidFill>
                  <a:srgbClr val="3c3939"/>
                </a:solidFill>
                <a:latin typeface="Raleway"/>
                <a:ea typeface="Raleway"/>
              </a:rPr>
              <a:t>Community 2: The North</a:t>
            </a:r>
            <a:endParaRPr b="0" lang="en-US" sz="2200" spc="-1" strike="noStrike">
              <a:solidFill>
                <a:srgbClr val="000000"/>
              </a:solidFill>
              <a:latin typeface="Arial"/>
            </a:endParaRPr>
          </a:p>
        </p:txBody>
      </p:sp>
      <p:sp>
        <p:nvSpPr>
          <p:cNvPr id="127" name="Text 4"/>
          <p:cNvSpPr/>
          <p:nvPr/>
        </p:nvSpPr>
        <p:spPr>
          <a:xfrm>
            <a:off x="9597600" y="2563200"/>
            <a:ext cx="42382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0" lang="en-US" sz="1750" spc="-1" strike="noStrike">
                <a:solidFill>
                  <a:srgbClr val="3c3939"/>
                </a:solidFill>
                <a:latin typeface="Roboto"/>
                <a:ea typeface="Roboto"/>
              </a:rPr>
              <a:t>Jon, Sam, Davos</a:t>
            </a:r>
            <a:endParaRPr b="0" lang="en-US" sz="1750" spc="-1" strike="noStrike">
              <a:solidFill>
                <a:srgbClr val="000000"/>
              </a:solidFill>
              <a:latin typeface="Arial"/>
            </a:endParaRPr>
          </a:p>
        </p:txBody>
      </p:sp>
      <p:pic>
        <p:nvPicPr>
          <p:cNvPr id="128" name="Image 2" descr="preencoded.png"/>
          <p:cNvPicPr/>
          <p:nvPr/>
        </p:nvPicPr>
        <p:blipFill>
          <a:blip r:embed="rId4"/>
          <a:stretch/>
        </p:blipFill>
        <p:spPr>
          <a:xfrm>
            <a:off x="5032800" y="2033640"/>
            <a:ext cx="4564080" cy="4564080"/>
          </a:xfrm>
          <a:prstGeom prst="rect">
            <a:avLst/>
          </a:prstGeom>
          <a:ln w="0">
            <a:noFill/>
          </a:ln>
        </p:spPr>
      </p:pic>
      <p:pic>
        <p:nvPicPr>
          <p:cNvPr id="129" name="Image 3" descr="preencoded.png"/>
          <p:cNvPicPr/>
          <p:nvPr/>
        </p:nvPicPr>
        <p:blipFill>
          <a:blip r:embed="rId5">
            <a:extLst>
              <a:ext uri="{96DAC541-7B7A-43D3-8B79-37D633B846F1}">
                <asvg:svgBlip xmlns:asvg="http://schemas.microsoft.com/office/drawing/2016/SVG/main" r:embed="rId6"/>
              </a:ext>
            </a:extLst>
          </a:blip>
          <a:stretch/>
        </p:blipFill>
        <p:spPr>
          <a:xfrm>
            <a:off x="7743240" y="3138480"/>
            <a:ext cx="318240" cy="318240"/>
          </a:xfrm>
          <a:prstGeom prst="rect">
            <a:avLst/>
          </a:prstGeom>
          <a:ln w="0">
            <a:noFill/>
          </a:ln>
        </p:spPr>
      </p:pic>
      <p:sp>
        <p:nvSpPr>
          <p:cNvPr id="130" name="Text 5"/>
          <p:cNvSpPr/>
          <p:nvPr/>
        </p:nvSpPr>
        <p:spPr>
          <a:xfrm>
            <a:off x="10051200" y="3526560"/>
            <a:ext cx="3162240" cy="3535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0" lang="en-US" sz="2200" spc="-1" strike="noStrike">
                <a:solidFill>
                  <a:srgbClr val="3c3939"/>
                </a:solidFill>
                <a:latin typeface="Raleway"/>
                <a:ea typeface="Raleway"/>
              </a:rPr>
              <a:t>Community 3: Targaryen</a:t>
            </a:r>
            <a:endParaRPr b="0" lang="en-US" sz="2200" spc="-1" strike="noStrike">
              <a:solidFill>
                <a:srgbClr val="000000"/>
              </a:solidFill>
              <a:latin typeface="Arial"/>
            </a:endParaRPr>
          </a:p>
        </p:txBody>
      </p:sp>
      <p:sp>
        <p:nvSpPr>
          <p:cNvPr id="131" name="Text 6"/>
          <p:cNvSpPr/>
          <p:nvPr/>
        </p:nvSpPr>
        <p:spPr>
          <a:xfrm>
            <a:off x="10051200" y="4016880"/>
            <a:ext cx="3784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0" lang="en-US" sz="1750" spc="-1" strike="noStrike">
                <a:solidFill>
                  <a:srgbClr val="3c3939"/>
                </a:solidFill>
                <a:latin typeface="Roboto"/>
                <a:ea typeface="Roboto"/>
              </a:rPr>
              <a:t>Daenerys, Jorah, Missandei</a:t>
            </a:r>
            <a:endParaRPr b="0" lang="en-US" sz="1750" spc="-1" strike="noStrike">
              <a:solidFill>
                <a:srgbClr val="000000"/>
              </a:solidFill>
              <a:latin typeface="Arial"/>
            </a:endParaRPr>
          </a:p>
        </p:txBody>
      </p:sp>
      <p:pic>
        <p:nvPicPr>
          <p:cNvPr id="132" name="Image 4" descr="preencoded.png"/>
          <p:cNvPicPr/>
          <p:nvPr/>
        </p:nvPicPr>
        <p:blipFill>
          <a:blip r:embed="rId7"/>
          <a:stretch/>
        </p:blipFill>
        <p:spPr>
          <a:xfrm>
            <a:off x="5032800" y="2033640"/>
            <a:ext cx="4564080" cy="4564080"/>
          </a:xfrm>
          <a:prstGeom prst="rect">
            <a:avLst/>
          </a:prstGeom>
          <a:ln w="0">
            <a:noFill/>
          </a:ln>
        </p:spPr>
      </p:pic>
      <p:pic>
        <p:nvPicPr>
          <p:cNvPr id="133" name="Image 5" descr="preencoded.png"/>
          <p:cNvPicPr/>
          <p:nvPr/>
        </p:nvPicPr>
        <p:blipFill>
          <a:blip r:embed="rId8">
            <a:extLst>
              <a:ext uri="{96DAC541-7B7A-43D3-8B79-37D633B846F1}">
                <asvg:svgBlip xmlns:asvg="http://schemas.microsoft.com/office/drawing/2016/SVG/main" r:embed="rId9"/>
              </a:ext>
            </a:extLst>
          </a:blip>
          <a:stretch/>
        </p:blipFill>
        <p:spPr>
          <a:xfrm>
            <a:off x="8331120" y="4156560"/>
            <a:ext cx="318240" cy="318240"/>
          </a:xfrm>
          <a:prstGeom prst="rect">
            <a:avLst/>
          </a:prstGeom>
          <a:ln w="0">
            <a:noFill/>
          </a:ln>
        </p:spPr>
      </p:pic>
      <p:sp>
        <p:nvSpPr>
          <p:cNvPr id="134" name="Text 7"/>
          <p:cNvSpPr/>
          <p:nvPr/>
        </p:nvSpPr>
        <p:spPr>
          <a:xfrm>
            <a:off x="9597600" y="5342760"/>
            <a:ext cx="2834640" cy="3535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0" lang="en-US" sz="2200" spc="-1" strike="noStrike">
                <a:solidFill>
                  <a:srgbClr val="3c3939"/>
                </a:solidFill>
                <a:latin typeface="Raleway"/>
                <a:ea typeface="Raleway"/>
              </a:rPr>
              <a:t>Συνολικά</a:t>
            </a:r>
            <a:endParaRPr b="0" lang="en-US" sz="2200" spc="-1" strike="noStrike">
              <a:solidFill>
                <a:srgbClr val="000000"/>
              </a:solidFill>
              <a:latin typeface="Arial"/>
            </a:endParaRPr>
          </a:p>
        </p:txBody>
      </p:sp>
      <p:sp>
        <p:nvSpPr>
          <p:cNvPr id="135" name="Text 8"/>
          <p:cNvSpPr/>
          <p:nvPr/>
        </p:nvSpPr>
        <p:spPr>
          <a:xfrm>
            <a:off x="9597600" y="5833440"/>
            <a:ext cx="42382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0" lang="en-US" sz="1750" spc="-1" strike="noStrike">
                <a:solidFill>
                  <a:srgbClr val="3c3939"/>
                </a:solidFill>
                <a:latin typeface="Roboto"/>
                <a:ea typeface="Roboto"/>
              </a:rPr>
              <a:t>8 κοινότητες</a:t>
            </a:r>
            <a:endParaRPr b="0" lang="en-US" sz="1750" spc="-1" strike="noStrike">
              <a:solidFill>
                <a:srgbClr val="000000"/>
              </a:solidFill>
              <a:latin typeface="Arial"/>
            </a:endParaRPr>
          </a:p>
        </p:txBody>
      </p:sp>
      <p:pic>
        <p:nvPicPr>
          <p:cNvPr id="136" name="Image 6" descr="preencoded.png"/>
          <p:cNvPicPr/>
          <p:nvPr/>
        </p:nvPicPr>
        <p:blipFill>
          <a:blip r:embed="rId10"/>
          <a:stretch/>
        </p:blipFill>
        <p:spPr>
          <a:xfrm>
            <a:off x="5032800" y="2033640"/>
            <a:ext cx="4564080" cy="4564080"/>
          </a:xfrm>
          <a:prstGeom prst="rect">
            <a:avLst/>
          </a:prstGeom>
          <a:ln w="0">
            <a:noFill/>
          </a:ln>
        </p:spPr>
      </p:pic>
      <p:pic>
        <p:nvPicPr>
          <p:cNvPr id="137" name="Image 7" descr="preencoded.png"/>
          <p:cNvPicPr/>
          <p:nvPr/>
        </p:nvPicPr>
        <p:blipFill>
          <a:blip r:embed="rId11">
            <a:extLst>
              <a:ext uri="{96DAC541-7B7A-43D3-8B79-37D633B846F1}">
                <asvg:svgBlip xmlns:asvg="http://schemas.microsoft.com/office/drawing/2016/SVG/main" r:embed="rId12"/>
              </a:ext>
            </a:extLst>
          </a:blip>
          <a:stretch/>
        </p:blipFill>
        <p:spPr>
          <a:xfrm>
            <a:off x="7743240" y="5174280"/>
            <a:ext cx="318240" cy="318240"/>
          </a:xfrm>
          <a:prstGeom prst="rect">
            <a:avLst/>
          </a:prstGeom>
          <a:ln w="0">
            <a:noFill/>
          </a:ln>
        </p:spPr>
      </p:pic>
      <p:sp>
        <p:nvSpPr>
          <p:cNvPr id="138" name="Text 9"/>
          <p:cNvSpPr/>
          <p:nvPr/>
        </p:nvSpPr>
        <p:spPr>
          <a:xfrm>
            <a:off x="2197440" y="4979880"/>
            <a:ext cx="2834640" cy="353520"/>
          </a:xfrm>
          <a:prstGeom prst="rect">
            <a:avLst/>
          </a:prstGeom>
          <a:noFill/>
          <a:ln w="0">
            <a:noFill/>
          </a:ln>
        </p:spPr>
        <p:style>
          <a:lnRef idx="0"/>
          <a:fillRef idx="0"/>
          <a:effectRef idx="0"/>
          <a:fontRef idx="minor"/>
        </p:style>
        <p:txBody>
          <a:bodyPr wrap="none" lIns="0" rIns="0" tIns="0" bIns="0" anchor="t">
            <a:noAutofit/>
          </a:bodyPr>
          <a:p>
            <a:pPr algn="r">
              <a:lnSpc>
                <a:spcPts val="2750"/>
              </a:lnSpc>
              <a:tabLst>
                <a:tab algn="l" pos="0"/>
              </a:tabLst>
            </a:pPr>
            <a:r>
              <a:rPr b="0" lang="en-US" sz="2200" spc="-1" strike="noStrike">
                <a:solidFill>
                  <a:srgbClr val="3c3939"/>
                </a:solidFill>
                <a:latin typeface="Raleway"/>
                <a:ea typeface="Raleway"/>
              </a:rPr>
              <a:t>Συμπεράσματα</a:t>
            </a:r>
            <a:endParaRPr b="0" lang="en-US" sz="2200" spc="-1" strike="noStrike">
              <a:solidFill>
                <a:srgbClr val="000000"/>
              </a:solidFill>
              <a:latin typeface="Arial"/>
            </a:endParaRPr>
          </a:p>
        </p:txBody>
      </p:sp>
      <p:sp>
        <p:nvSpPr>
          <p:cNvPr id="139" name="Text 10"/>
          <p:cNvSpPr/>
          <p:nvPr/>
        </p:nvSpPr>
        <p:spPr>
          <a:xfrm>
            <a:off x="793800" y="5470560"/>
            <a:ext cx="4238280" cy="1087920"/>
          </a:xfrm>
          <a:prstGeom prst="rect">
            <a:avLst/>
          </a:prstGeom>
          <a:noFill/>
          <a:ln w="0">
            <a:noFill/>
          </a:ln>
        </p:spPr>
        <p:style>
          <a:lnRef idx="0"/>
          <a:fillRef idx="0"/>
          <a:effectRef idx="0"/>
          <a:fontRef idx="minor"/>
        </p:style>
        <p:txBody>
          <a:bodyPr lIns="0" rIns="0" tIns="0" bIns="0" anchor="t">
            <a:noAutofit/>
          </a:bodyPr>
          <a:p>
            <a:pPr algn="r">
              <a:lnSpc>
                <a:spcPts val="2849"/>
              </a:lnSpc>
              <a:tabLst>
                <a:tab algn="l" pos="0"/>
              </a:tabLst>
            </a:pPr>
            <a:r>
              <a:rPr b="0" lang="en-US" sz="1750" spc="-1" strike="noStrike">
                <a:solidFill>
                  <a:srgbClr val="3c3939"/>
                </a:solidFill>
                <a:latin typeface="Roboto"/>
                <a:ea typeface="Roboto"/>
              </a:rPr>
              <a:t>Η πιο σημαντική κοινότητα αποδείχθηκε το King's Landing και ο χαρακτήρας με την περισσότερη επιρροή ο Tyrion.</a:t>
            </a:r>
            <a:endParaRPr b="0" lang="en-US" sz="1750" spc="-1" strike="noStrike">
              <a:solidFill>
                <a:srgbClr val="000000"/>
              </a:solidFill>
              <a:latin typeface="Arial"/>
            </a:endParaRPr>
          </a:p>
        </p:txBody>
      </p:sp>
      <p:pic>
        <p:nvPicPr>
          <p:cNvPr id="140" name="Image 8" descr="preencoded.png"/>
          <p:cNvPicPr/>
          <p:nvPr/>
        </p:nvPicPr>
        <p:blipFill>
          <a:blip r:embed="rId13"/>
          <a:stretch/>
        </p:blipFill>
        <p:spPr>
          <a:xfrm>
            <a:off x="5032800" y="2033640"/>
            <a:ext cx="4564080" cy="4564080"/>
          </a:xfrm>
          <a:prstGeom prst="rect">
            <a:avLst/>
          </a:prstGeom>
          <a:ln w="0">
            <a:noFill/>
          </a:ln>
        </p:spPr>
      </p:pic>
      <p:pic>
        <p:nvPicPr>
          <p:cNvPr id="141" name="Image 9" descr="preencoded.png"/>
          <p:cNvPicPr/>
          <p:nvPr/>
        </p:nvPicPr>
        <p:blipFill>
          <a:blip r:embed="rId14">
            <a:extLst>
              <a:ext uri="{96DAC541-7B7A-43D3-8B79-37D633B846F1}">
                <asvg:svgBlip xmlns:asvg="http://schemas.microsoft.com/office/drawing/2016/SVG/main" r:embed="rId15"/>
              </a:ext>
            </a:extLst>
          </a:blip>
          <a:stretch/>
        </p:blipFill>
        <p:spPr>
          <a:xfrm>
            <a:off x="6567840" y="5174280"/>
            <a:ext cx="318240" cy="318240"/>
          </a:xfrm>
          <a:prstGeom prst="rect">
            <a:avLst/>
          </a:prstGeom>
          <a:ln w="0">
            <a:noFill/>
          </a:ln>
        </p:spPr>
      </p:pic>
      <p:sp>
        <p:nvSpPr>
          <p:cNvPr id="142" name="Text 11"/>
          <p:cNvSpPr/>
          <p:nvPr/>
        </p:nvSpPr>
        <p:spPr>
          <a:xfrm>
            <a:off x="1369440" y="3345120"/>
            <a:ext cx="3209040" cy="353520"/>
          </a:xfrm>
          <a:prstGeom prst="rect">
            <a:avLst/>
          </a:prstGeom>
          <a:noFill/>
          <a:ln w="0">
            <a:noFill/>
          </a:ln>
        </p:spPr>
        <p:style>
          <a:lnRef idx="0"/>
          <a:fillRef idx="0"/>
          <a:effectRef idx="0"/>
          <a:fontRef idx="minor"/>
        </p:style>
        <p:txBody>
          <a:bodyPr wrap="none" lIns="0" rIns="0" tIns="0" bIns="0" anchor="t">
            <a:noAutofit/>
          </a:bodyPr>
          <a:p>
            <a:pPr algn="r">
              <a:lnSpc>
                <a:spcPts val="2750"/>
              </a:lnSpc>
              <a:tabLst>
                <a:tab algn="l" pos="0"/>
              </a:tabLst>
            </a:pPr>
            <a:r>
              <a:rPr b="0" lang="en-US" sz="2200" spc="-1" strike="noStrike">
                <a:solidFill>
                  <a:srgbClr val="3c3939"/>
                </a:solidFill>
                <a:latin typeface="Raleway"/>
                <a:ea typeface="Raleway"/>
              </a:rPr>
              <a:t>Βασικοί Πρωταγωνιστές</a:t>
            </a:r>
            <a:endParaRPr b="0" lang="en-US" sz="2200" spc="-1" strike="noStrike">
              <a:solidFill>
                <a:srgbClr val="000000"/>
              </a:solidFill>
              <a:latin typeface="Arial"/>
            </a:endParaRPr>
          </a:p>
        </p:txBody>
      </p:sp>
      <p:sp>
        <p:nvSpPr>
          <p:cNvPr id="143" name="Text 12"/>
          <p:cNvSpPr/>
          <p:nvPr/>
        </p:nvSpPr>
        <p:spPr>
          <a:xfrm>
            <a:off x="793800" y="3835440"/>
            <a:ext cx="3784680" cy="725040"/>
          </a:xfrm>
          <a:prstGeom prst="rect">
            <a:avLst/>
          </a:prstGeom>
          <a:noFill/>
          <a:ln w="0">
            <a:noFill/>
          </a:ln>
        </p:spPr>
        <p:style>
          <a:lnRef idx="0"/>
          <a:fillRef idx="0"/>
          <a:effectRef idx="0"/>
          <a:fontRef idx="minor"/>
        </p:style>
        <p:txBody>
          <a:bodyPr lIns="0" rIns="0" tIns="0" bIns="0" anchor="t">
            <a:noAutofit/>
          </a:bodyPr>
          <a:p>
            <a:pPr algn="r">
              <a:lnSpc>
                <a:spcPts val="2849"/>
              </a:lnSpc>
              <a:tabLst>
                <a:tab algn="l" pos="0"/>
              </a:tabLst>
            </a:pPr>
            <a:r>
              <a:rPr b="0" lang="en-US" sz="1750" spc="-1" strike="noStrike">
                <a:solidFill>
                  <a:srgbClr val="3c3939"/>
                </a:solidFill>
                <a:latin typeface="Roboto"/>
                <a:ea typeface="Roboto"/>
              </a:rPr>
              <a:t>Tyrion, Jon, Daenerys (υψηλό degree, strength, betweenness, PageRank).</a:t>
            </a:r>
            <a:endParaRPr b="0" lang="en-US" sz="1750" spc="-1" strike="noStrike">
              <a:solidFill>
                <a:srgbClr val="000000"/>
              </a:solidFill>
              <a:latin typeface="Arial"/>
            </a:endParaRPr>
          </a:p>
        </p:txBody>
      </p:sp>
      <p:pic>
        <p:nvPicPr>
          <p:cNvPr id="144" name="Image 10" descr="preencoded.png"/>
          <p:cNvPicPr/>
          <p:nvPr/>
        </p:nvPicPr>
        <p:blipFill>
          <a:blip r:embed="rId16"/>
          <a:stretch/>
        </p:blipFill>
        <p:spPr>
          <a:xfrm>
            <a:off x="5032800" y="2033640"/>
            <a:ext cx="4564080" cy="4564080"/>
          </a:xfrm>
          <a:prstGeom prst="rect">
            <a:avLst/>
          </a:prstGeom>
          <a:ln w="0">
            <a:noFill/>
          </a:ln>
        </p:spPr>
      </p:pic>
      <p:pic>
        <p:nvPicPr>
          <p:cNvPr id="145" name="Image 11" descr="preencoded.png"/>
          <p:cNvPicPr/>
          <p:nvPr/>
        </p:nvPicPr>
        <p:blipFill>
          <a:blip r:embed="rId17">
            <a:extLst>
              <a:ext uri="{96DAC541-7B7A-43D3-8B79-37D633B846F1}">
                <asvg:svgBlip xmlns:asvg="http://schemas.microsoft.com/office/drawing/2016/SVG/main" r:embed="rId18"/>
              </a:ext>
            </a:extLst>
          </a:blip>
          <a:stretch/>
        </p:blipFill>
        <p:spPr>
          <a:xfrm>
            <a:off x="5979960" y="4156560"/>
            <a:ext cx="318240" cy="318240"/>
          </a:xfrm>
          <a:prstGeom prst="rect">
            <a:avLst/>
          </a:prstGeom>
          <a:ln w="0">
            <a:noFill/>
          </a:ln>
        </p:spPr>
      </p:pic>
      <p:sp>
        <p:nvSpPr>
          <p:cNvPr id="146" name="Text 13"/>
          <p:cNvSpPr/>
          <p:nvPr/>
        </p:nvSpPr>
        <p:spPr>
          <a:xfrm>
            <a:off x="793800" y="6853680"/>
            <a:ext cx="130420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 0"/>
          <p:cNvSpPr/>
          <p:nvPr/>
        </p:nvSpPr>
        <p:spPr>
          <a:xfrm>
            <a:off x="759960" y="597600"/>
            <a:ext cx="5428800" cy="677880"/>
          </a:xfrm>
          <a:prstGeom prst="rect">
            <a:avLst/>
          </a:prstGeom>
          <a:noFill/>
          <a:ln w="0">
            <a:noFill/>
          </a:ln>
        </p:spPr>
        <p:style>
          <a:lnRef idx="0"/>
          <a:fillRef idx="0"/>
          <a:effectRef idx="0"/>
          <a:fontRef idx="minor"/>
        </p:style>
        <p:txBody>
          <a:bodyPr wrap="none" lIns="0" rIns="0" tIns="0" bIns="0" anchor="t">
            <a:noAutofit/>
          </a:bodyPr>
          <a:p>
            <a:pPr>
              <a:lnSpc>
                <a:spcPts val="5301"/>
              </a:lnSpc>
              <a:tabLst>
                <a:tab algn="l" pos="0"/>
              </a:tabLst>
            </a:pPr>
            <a:r>
              <a:rPr b="0" lang="en-US" sz="4250" spc="-1" strike="noStrike">
                <a:solidFill>
                  <a:srgbClr val="1b1b27"/>
                </a:solidFill>
                <a:latin typeface="Raleway"/>
                <a:ea typeface="Raleway"/>
              </a:rPr>
              <a:t>Συμπεράσματα</a:t>
            </a:r>
            <a:endParaRPr b="0" lang="en-US" sz="4250" spc="-1" strike="noStrike">
              <a:solidFill>
                <a:srgbClr val="000000"/>
              </a:solidFill>
              <a:latin typeface="Arial"/>
            </a:endParaRPr>
          </a:p>
        </p:txBody>
      </p:sp>
      <p:sp>
        <p:nvSpPr>
          <p:cNvPr id="148" name="Text 1"/>
          <p:cNvSpPr/>
          <p:nvPr/>
        </p:nvSpPr>
        <p:spPr>
          <a:xfrm>
            <a:off x="759960" y="1710720"/>
            <a:ext cx="13109400" cy="1041480"/>
          </a:xfrm>
          <a:prstGeom prst="rect">
            <a:avLst/>
          </a:prstGeom>
          <a:noFill/>
          <a:ln w="0">
            <a:noFill/>
          </a:ln>
        </p:spPr>
        <p:style>
          <a:lnRef idx="0"/>
          <a:fillRef idx="0"/>
          <a:effectRef idx="0"/>
          <a:fontRef idx="minor"/>
        </p:style>
        <p:txBody>
          <a:bodyPr lIns="0" rIns="0" tIns="0" bIns="0" anchor="t">
            <a:noAutofit/>
          </a:bodyPr>
          <a:p>
            <a:pPr>
              <a:lnSpc>
                <a:spcPts val="2701"/>
              </a:lnSpc>
              <a:tabLst>
                <a:tab algn="l" pos="0"/>
              </a:tabLst>
            </a:pPr>
            <a:r>
              <a:rPr b="0" lang="en-US" sz="1700" spc="-1" strike="noStrike">
                <a:solidFill>
                  <a:srgbClr val="3c3939"/>
                </a:solidFill>
                <a:latin typeface="Roboto"/>
                <a:ea typeface="Roboto"/>
              </a:rPr>
              <a:t>Το δίκτυο της σειράς παρουσιάζει χαρακτηριστικά "scale-free", υπογραμμίζοντας την ύπαρξη λίγων κόμβων-nodes με μεγάλη επιρροή. Η αφήγηση του Game of Thrones βασίζεται σε πολλούς κεντρικούς κόμβους και όχι σε έναν μόνο πρωταγωνιστή, κάτι που αντανακλά την πλούσια και πολυεπίπεδη δομή της ιστορίας.</a:t>
            </a:r>
            <a:endParaRPr b="0" lang="en-US" sz="1700" spc="-1" strike="noStrike">
              <a:solidFill>
                <a:srgbClr val="000000"/>
              </a:solidFill>
              <a:latin typeface="Arial"/>
            </a:endParaRPr>
          </a:p>
        </p:txBody>
      </p:sp>
      <p:sp>
        <p:nvSpPr>
          <p:cNvPr id="149" name="Text 2"/>
          <p:cNvSpPr/>
          <p:nvPr/>
        </p:nvSpPr>
        <p:spPr>
          <a:xfrm>
            <a:off x="759960" y="3078720"/>
            <a:ext cx="5226840" cy="406440"/>
          </a:xfrm>
          <a:prstGeom prst="rect">
            <a:avLst/>
          </a:prstGeom>
          <a:noFill/>
          <a:ln w="0">
            <a:noFill/>
          </a:ln>
        </p:spPr>
        <p:style>
          <a:lnRef idx="0"/>
          <a:fillRef idx="0"/>
          <a:effectRef idx="0"/>
          <a:fontRef idx="minor"/>
        </p:style>
        <p:txBody>
          <a:bodyPr wrap="none" lIns="0" rIns="0" tIns="0" bIns="0" anchor="t">
            <a:noAutofit/>
          </a:bodyPr>
          <a:p>
            <a:pPr>
              <a:lnSpc>
                <a:spcPts val="3200"/>
              </a:lnSpc>
              <a:tabLst>
                <a:tab algn="l" pos="0"/>
              </a:tabLst>
            </a:pPr>
            <a:r>
              <a:rPr b="0" lang="en-US" sz="2550" spc="-1" strike="noStrike">
                <a:solidFill>
                  <a:srgbClr val="1b1b27"/>
                </a:solidFill>
                <a:latin typeface="Raleway"/>
                <a:ea typeface="Raleway"/>
              </a:rPr>
              <a:t>Κύρια Ευρήματα (βάσει Μετρικών)</a:t>
            </a:r>
            <a:endParaRPr b="0" lang="en-US" sz="2550" spc="-1" strike="noStrike">
              <a:solidFill>
                <a:srgbClr val="000000"/>
              </a:solidFill>
              <a:latin typeface="Arial"/>
            </a:endParaRPr>
          </a:p>
        </p:txBody>
      </p:sp>
      <p:sp>
        <p:nvSpPr>
          <p:cNvPr id="150" name="Shape 3"/>
          <p:cNvSpPr/>
          <p:nvPr/>
        </p:nvSpPr>
        <p:spPr>
          <a:xfrm>
            <a:off x="759960" y="3811680"/>
            <a:ext cx="4224600" cy="3819600"/>
          </a:xfrm>
          <a:prstGeom prst="roundRect">
            <a:avLst>
              <a:gd name="adj" fmla="val 2388"/>
            </a:avLst>
          </a:prstGeom>
          <a:solidFill>
            <a:srgbClr val="ffffff">
              <a:alpha val="95000"/>
            </a:srgbClr>
          </a:solidFill>
          <a:ln w="30480">
            <a:solidFill>
              <a:srgbClr val="c7c7d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1" name="Text 4"/>
          <p:cNvSpPr/>
          <p:nvPr/>
        </p:nvSpPr>
        <p:spPr>
          <a:xfrm>
            <a:off x="1007640" y="4059360"/>
            <a:ext cx="2714040" cy="33876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0" lang="en-US" sz="2100" spc="-1" strike="noStrike">
                <a:solidFill>
                  <a:srgbClr val="3c3939"/>
                </a:solidFill>
                <a:latin typeface="Raleway"/>
                <a:ea typeface="Raleway"/>
              </a:rPr>
              <a:t>Tyrion Lannister</a:t>
            </a:r>
            <a:endParaRPr b="0" lang="en-US" sz="2100" spc="-1" strike="noStrike">
              <a:solidFill>
                <a:srgbClr val="000000"/>
              </a:solidFill>
              <a:latin typeface="Arial"/>
            </a:endParaRPr>
          </a:p>
        </p:txBody>
      </p:sp>
      <p:sp>
        <p:nvSpPr>
          <p:cNvPr id="152" name="Text 5"/>
          <p:cNvSpPr/>
          <p:nvPr/>
        </p:nvSpPr>
        <p:spPr>
          <a:xfrm>
            <a:off x="1007640" y="4528800"/>
            <a:ext cx="3729240" cy="6940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#1 σε Degree, Strength, Betweenness και PageRank.</a:t>
            </a:r>
            <a:endParaRPr b="0" lang="en-US" sz="1700" spc="-1" strike="noStrike">
              <a:solidFill>
                <a:srgbClr val="000000"/>
              </a:solidFill>
              <a:latin typeface="Arial"/>
            </a:endParaRPr>
          </a:p>
        </p:txBody>
      </p:sp>
      <p:sp>
        <p:nvSpPr>
          <p:cNvPr id="153" name="Text 6"/>
          <p:cNvSpPr/>
          <p:nvPr/>
        </p:nvSpPr>
        <p:spPr>
          <a:xfrm>
            <a:off x="1007640" y="5299560"/>
            <a:ext cx="3729240" cy="10414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Αποτελεί κεντρικό κόμβο και βασικό συνδετικό κρίκο των storylines.</a:t>
            </a:r>
            <a:endParaRPr b="0" lang="en-US" sz="1700" spc="-1" strike="noStrike">
              <a:solidFill>
                <a:srgbClr val="000000"/>
              </a:solidFill>
              <a:latin typeface="Arial"/>
            </a:endParaRPr>
          </a:p>
        </p:txBody>
      </p:sp>
      <p:sp>
        <p:nvSpPr>
          <p:cNvPr id="154" name="Shape 7"/>
          <p:cNvSpPr/>
          <p:nvPr/>
        </p:nvSpPr>
        <p:spPr>
          <a:xfrm>
            <a:off x="5202720" y="3811680"/>
            <a:ext cx="4224600" cy="3819600"/>
          </a:xfrm>
          <a:prstGeom prst="roundRect">
            <a:avLst>
              <a:gd name="adj" fmla="val 2388"/>
            </a:avLst>
          </a:prstGeom>
          <a:solidFill>
            <a:srgbClr val="ffffff">
              <a:alpha val="95000"/>
            </a:srgbClr>
          </a:solidFill>
          <a:ln w="30480">
            <a:solidFill>
              <a:srgbClr val="c7c7d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5" name="Text 8"/>
          <p:cNvSpPr/>
          <p:nvPr/>
        </p:nvSpPr>
        <p:spPr>
          <a:xfrm>
            <a:off x="5450040" y="4059360"/>
            <a:ext cx="3729240" cy="67788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2100" spc="-1" strike="noStrike">
                <a:solidFill>
                  <a:srgbClr val="3c3939"/>
                </a:solidFill>
                <a:latin typeface="Raleway"/>
                <a:ea typeface="Raleway"/>
              </a:rPr>
              <a:t>Jon Snow &amp; Daenerys Targaryen</a:t>
            </a:r>
            <a:endParaRPr b="0" lang="en-US" sz="2100" spc="-1" strike="noStrike">
              <a:solidFill>
                <a:srgbClr val="000000"/>
              </a:solidFill>
              <a:latin typeface="Arial"/>
            </a:endParaRPr>
          </a:p>
        </p:txBody>
      </p:sp>
      <p:sp>
        <p:nvSpPr>
          <p:cNvPr id="156" name="Text 9"/>
          <p:cNvSpPr/>
          <p:nvPr/>
        </p:nvSpPr>
        <p:spPr>
          <a:xfrm>
            <a:off x="5450040" y="4868280"/>
            <a:ext cx="3729240" cy="6940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Εμφανίζουν υψηλές τιμές σε όλες τις μετρικές.</a:t>
            </a:r>
            <a:endParaRPr b="0" lang="en-US" sz="1700" spc="-1" strike="noStrike">
              <a:solidFill>
                <a:srgbClr val="000000"/>
              </a:solidFill>
              <a:latin typeface="Arial"/>
            </a:endParaRPr>
          </a:p>
        </p:txBody>
      </p:sp>
      <p:sp>
        <p:nvSpPr>
          <p:cNvPr id="157" name="Text 10"/>
          <p:cNvSpPr/>
          <p:nvPr/>
        </p:nvSpPr>
        <p:spPr>
          <a:xfrm>
            <a:off x="5450040" y="5639040"/>
            <a:ext cx="3729240" cy="6940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Πρωταγωνιστές μεγάλων και διακριτών αφηγηματικών arcs.</a:t>
            </a:r>
            <a:endParaRPr b="0" lang="en-US" sz="1700" spc="-1" strike="noStrike">
              <a:solidFill>
                <a:srgbClr val="000000"/>
              </a:solidFill>
              <a:latin typeface="Arial"/>
            </a:endParaRPr>
          </a:p>
        </p:txBody>
      </p:sp>
      <p:sp>
        <p:nvSpPr>
          <p:cNvPr id="158" name="Shape 11"/>
          <p:cNvSpPr/>
          <p:nvPr/>
        </p:nvSpPr>
        <p:spPr>
          <a:xfrm>
            <a:off x="9645120" y="3811680"/>
            <a:ext cx="4224600" cy="3819600"/>
          </a:xfrm>
          <a:prstGeom prst="roundRect">
            <a:avLst>
              <a:gd name="adj" fmla="val 2388"/>
            </a:avLst>
          </a:prstGeom>
          <a:solidFill>
            <a:srgbClr val="ffffff">
              <a:alpha val="95000"/>
            </a:srgbClr>
          </a:solidFill>
          <a:ln w="30480">
            <a:solidFill>
              <a:srgbClr val="c7c7d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9" name="Text 12"/>
          <p:cNvSpPr/>
          <p:nvPr/>
        </p:nvSpPr>
        <p:spPr>
          <a:xfrm>
            <a:off x="9892800" y="4059360"/>
            <a:ext cx="2714040" cy="338760"/>
          </a:xfrm>
          <a:prstGeom prst="rect">
            <a:avLst/>
          </a:prstGeom>
          <a:noFill/>
          <a:ln w="0">
            <a:noFill/>
          </a:ln>
        </p:spPr>
        <p:style>
          <a:lnRef idx="0"/>
          <a:fillRef idx="0"/>
          <a:effectRef idx="0"/>
          <a:fontRef idx="minor"/>
        </p:style>
        <p:txBody>
          <a:bodyPr wrap="none" lIns="0" rIns="0" tIns="0" bIns="0" anchor="t">
            <a:noAutofit/>
          </a:bodyPr>
          <a:p>
            <a:pPr>
              <a:lnSpc>
                <a:spcPts val="2650"/>
              </a:lnSpc>
              <a:tabLst>
                <a:tab algn="l" pos="0"/>
              </a:tabLst>
            </a:pPr>
            <a:r>
              <a:rPr b="0" lang="en-US" sz="2100" spc="-1" strike="noStrike">
                <a:solidFill>
                  <a:srgbClr val="3c3939"/>
                </a:solidFill>
                <a:latin typeface="Raleway"/>
                <a:ea typeface="Raleway"/>
              </a:rPr>
              <a:t>Κοινότητες </a:t>
            </a:r>
            <a:endParaRPr b="0" lang="en-US" sz="2100" spc="-1" strike="noStrike">
              <a:solidFill>
                <a:srgbClr val="000000"/>
              </a:solidFill>
              <a:latin typeface="Arial"/>
            </a:endParaRPr>
          </a:p>
        </p:txBody>
      </p:sp>
      <p:sp>
        <p:nvSpPr>
          <p:cNvPr id="160" name="Text 13"/>
          <p:cNvSpPr/>
          <p:nvPr/>
        </p:nvSpPr>
        <p:spPr>
          <a:xfrm>
            <a:off x="9892800" y="4528800"/>
            <a:ext cx="3729240" cy="13888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Η κοινότητα King’s Landing (Tyrion–Cersei–jaime) αναδεικνύεται ως η δομικά πιο σημαντική.</a:t>
            </a:r>
            <a:endParaRPr b="0" lang="en-US" sz="1700" spc="-1" strike="noStrike">
              <a:solidFill>
                <a:srgbClr val="000000"/>
              </a:solidFill>
              <a:latin typeface="Arial"/>
            </a:endParaRPr>
          </a:p>
        </p:txBody>
      </p:sp>
      <p:sp>
        <p:nvSpPr>
          <p:cNvPr id="161" name="Text 14"/>
          <p:cNvSpPr/>
          <p:nvPr/>
        </p:nvSpPr>
        <p:spPr>
          <a:xfrm>
            <a:off x="9892800" y="5994720"/>
            <a:ext cx="3729240" cy="1388880"/>
          </a:xfrm>
          <a:prstGeom prst="rect">
            <a:avLst/>
          </a:prstGeom>
          <a:noFill/>
          <a:ln w="0">
            <a:noFill/>
          </a:ln>
        </p:spPr>
        <p:style>
          <a:lnRef idx="0"/>
          <a:fillRef idx="0"/>
          <a:effectRef idx="0"/>
          <a:fontRef idx="minor"/>
        </p:style>
        <p:txBody>
          <a:bodyPr lIns="0" rIns="0" tIns="0" bIns="0" anchor="t">
            <a:noAutofit/>
          </a:bodyPr>
          <a:p>
            <a:pPr marL="343080" indent="-343080">
              <a:lnSpc>
                <a:spcPts val="2701"/>
              </a:lnSpc>
              <a:buClr>
                <a:srgbClr val="3c3939"/>
              </a:buClr>
              <a:buFont typeface="Symbol" charset="2"/>
              <a:buChar char=""/>
            </a:pPr>
            <a:r>
              <a:rPr b="0" lang="en-US" sz="1700" spc="-1" strike="noStrike">
                <a:solidFill>
                  <a:srgbClr val="3c3939"/>
                </a:solidFill>
                <a:latin typeface="Roboto"/>
                <a:ea typeface="Roboto"/>
              </a:rPr>
              <a:t>Οι χαρακτήρες με υψηλό betweenness συνδέουν αποτελεσματικά διαφορετικές κοινότητες και ιστορίες.</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 descr=""/>
          <p:cNvPicPr/>
          <p:nvPr/>
        </p:nvPicPr>
        <p:blipFill>
          <a:blip r:embed="rId1"/>
          <a:stretch/>
        </p:blipFill>
        <p:spPr>
          <a:xfrm>
            <a:off x="65880" y="1600200"/>
            <a:ext cx="14447520" cy="44481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Image 0" descr="preencoded.png"/>
          <p:cNvPicPr/>
          <p:nvPr/>
        </p:nvPicPr>
        <p:blipFill>
          <a:blip r:embed="rId1"/>
          <a:stretch/>
        </p:blipFill>
        <p:spPr>
          <a:xfrm>
            <a:off x="0" y="0"/>
            <a:ext cx="5485680" cy="8228880"/>
          </a:xfrm>
          <a:prstGeom prst="rect">
            <a:avLst/>
          </a:prstGeom>
          <a:ln w="0">
            <a:noFill/>
          </a:ln>
        </p:spPr>
      </p:pic>
      <p:pic>
        <p:nvPicPr>
          <p:cNvPr id="164" name="Image 1" descr="preencoded.png"/>
          <p:cNvPicPr/>
          <p:nvPr/>
        </p:nvPicPr>
        <p:blipFill>
          <a:blip r:embed="rId2"/>
          <a:stretch/>
        </p:blipFill>
        <p:spPr>
          <a:xfrm>
            <a:off x="283320" y="1654920"/>
            <a:ext cx="4918680" cy="4918680"/>
          </a:xfrm>
          <a:prstGeom prst="rect">
            <a:avLst/>
          </a:prstGeom>
          <a:ln w="0">
            <a:noFill/>
          </a:ln>
        </p:spPr>
      </p:pic>
      <p:sp>
        <p:nvSpPr>
          <p:cNvPr id="165" name="Text 0"/>
          <p:cNvSpPr/>
          <p:nvPr/>
        </p:nvSpPr>
        <p:spPr>
          <a:xfrm>
            <a:off x="6280200" y="2481840"/>
            <a:ext cx="5670000" cy="708120"/>
          </a:xfrm>
          <a:prstGeom prst="rect">
            <a:avLst/>
          </a:prstGeom>
          <a:noFill/>
          <a:ln w="0">
            <a:noFill/>
          </a:ln>
        </p:spPr>
        <p:style>
          <a:lnRef idx="0"/>
          <a:fillRef idx="0"/>
          <a:effectRef idx="0"/>
          <a:fontRef idx="minor"/>
        </p:style>
        <p:txBody>
          <a:bodyPr wrap="none" lIns="0" rIns="0" tIns="0" bIns="0" anchor="t">
            <a:noAutofit/>
          </a:bodyPr>
          <a:p>
            <a:pPr>
              <a:lnSpc>
                <a:spcPts val="5550"/>
              </a:lnSpc>
              <a:tabLst>
                <a:tab algn="l" pos="0"/>
              </a:tabLst>
            </a:pPr>
            <a:r>
              <a:rPr b="0" lang="en-US" sz="4450" spc="-1" strike="noStrike">
                <a:solidFill>
                  <a:srgbClr val="1b1b27"/>
                </a:solidFill>
                <a:latin typeface="Raleway"/>
                <a:ea typeface="Raleway"/>
              </a:rPr>
              <a:t>Ευχαριστώ πολύ</a:t>
            </a:r>
            <a:endParaRPr b="0" lang="en-US" sz="4450" spc="-1" strike="noStrike">
              <a:solidFill>
                <a:srgbClr val="000000"/>
              </a:solidFill>
              <a:latin typeface="Arial"/>
            </a:endParaRPr>
          </a:p>
        </p:txBody>
      </p:sp>
      <p:sp>
        <p:nvSpPr>
          <p:cNvPr id="166" name="Text 1"/>
          <p:cNvSpPr/>
          <p:nvPr/>
        </p:nvSpPr>
        <p:spPr>
          <a:xfrm>
            <a:off x="6280200" y="353052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
        <p:nvSpPr>
          <p:cNvPr id="167" name="Text 2"/>
          <p:cNvSpPr/>
          <p:nvPr/>
        </p:nvSpPr>
        <p:spPr>
          <a:xfrm>
            <a:off x="6280200" y="414864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0" lang="en-US" sz="1750" spc="-1" strike="noStrike">
                <a:solidFill>
                  <a:srgbClr val="3c3939"/>
                </a:solidFill>
                <a:latin typeface="Roboto"/>
                <a:ea typeface="Roboto"/>
              </a:rPr>
              <a:t>Ερωτήσεις?</a:t>
            </a:r>
            <a:endParaRPr b="0" lang="en-US" sz="1750" spc="-1" strike="noStrike">
              <a:solidFill>
                <a:srgbClr val="000000"/>
              </a:solidFill>
              <a:latin typeface="Arial"/>
            </a:endParaRPr>
          </a:p>
        </p:txBody>
      </p:sp>
      <p:sp>
        <p:nvSpPr>
          <p:cNvPr id="168" name="Text 3"/>
          <p:cNvSpPr/>
          <p:nvPr/>
        </p:nvSpPr>
        <p:spPr>
          <a:xfrm>
            <a:off x="6280200" y="476676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
        <p:nvSpPr>
          <p:cNvPr id="169" name="Text 4"/>
          <p:cNvSpPr/>
          <p:nvPr/>
        </p:nvSpPr>
        <p:spPr>
          <a:xfrm>
            <a:off x="6280200" y="5384880"/>
            <a:ext cx="7555680" cy="36216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endParaRPr b="0" lang="en-US" sz="1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LibreOffice/24.2.1.2$Windows_X86_64 LibreOffice_project/db4def46b0453cc22e2d0305797cf981b68ef5ac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2025-12-14T19:00:12Z</dcterms:created>
  <dc:creator/>
  <dc:description/>
  <dc:language>en-US</dc:language>
  <cp:lastModifiedBy/>
  <dcterms:modified xsi:type="dcterms:W3CDTF">2025-12-14T23:17:59Z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